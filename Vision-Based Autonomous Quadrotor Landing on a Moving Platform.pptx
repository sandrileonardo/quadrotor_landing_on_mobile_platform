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p:notesSz cx="6858000" cy="9144000"/>
  <p:embeddedFontLst>
    <p:embeddedFont>
      <p:font typeface="Catamaran"/>
      <p:regular r:id="rId33"/>
    </p:embeddedFont>
    <p:embeddedFont>
      <p:font typeface="Raleway"/>
      <p:regular r:id="rId34"/>
      <p:bold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g3b5dd7d1a74_0_30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5dd7d1a74_0_30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62"/>
        <p:cNvGrpSpPr/>
        <p:nvPr/>
      </p:nvGrpSpPr>
      <p:grpSpPr>
        <a:xfrm>
          <a:off x="0" y="0"/>
          <a:ext cx="0" cy="0"/>
          <a:chOff x="0" y="0"/>
          <a:chExt cx="0" cy="0"/>
        </a:xfrm>
      </p:grpSpPr>
      <p:sp>
        <p:nvSpPr>
          <p:cNvPr id="63" name="Google Shape;63;g3b5dd7d1a74_0_36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b5dd7d1a74_0_36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b6130c9f19_0_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b6130c9f19_0_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g3b6130c9f19_0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b6130c9f19_0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a:t>- We obtain the visual data from the camera</a:t>
            </a:r>
            <a:endParaRPr lang="en-US"/>
          </a:p>
          <a:p>
            <a:pPr marL="0" lvl="0" indent="0" algn="l" rtl="0">
              <a:spcBef>
                <a:spcPts val="0"/>
              </a:spcBef>
              <a:spcAft>
                <a:spcPts val="0"/>
              </a:spcAft>
              <a:buClr>
                <a:schemeClr val="dk1"/>
              </a:buClr>
              <a:buSzPts val="1100"/>
              <a:buFont typeface="Arial" panose="020B0604020202020204"/>
              <a:buNone/>
            </a:pPr>
            <a:r>
              <a:rPr lang="en-US"/>
              <a:t>- We process that</a:t>
            </a:r>
            <a:endParaRPr lang="en-US"/>
          </a:p>
          <a:p>
            <a:pPr marL="0" lvl="0" indent="0" algn="l" rtl="0">
              <a:spcBef>
                <a:spcPts val="0"/>
              </a:spcBef>
              <a:spcAft>
                <a:spcPts val="0"/>
              </a:spcAft>
              <a:buClr>
                <a:schemeClr val="dk1"/>
              </a:buClr>
              <a:buSzPts val="1100"/>
              <a:buFont typeface="Arial" panose="020B0604020202020204"/>
              <a:buNone/>
            </a:pPr>
            <a:r>
              <a:rPr lang="en-US"/>
              <a:t>- That goes both into our platform trajectory estimation modulues</a:t>
            </a:r>
            <a:endParaRPr lang="en-US"/>
          </a:p>
          <a:p>
            <a:pPr marL="0" lvl="0" indent="0" algn="l" rtl="0">
              <a:spcBef>
                <a:spcPts val="0"/>
              </a:spcBef>
              <a:spcAft>
                <a:spcPts val="0"/>
              </a:spcAft>
              <a:buClr>
                <a:schemeClr val="dk1"/>
              </a:buClr>
              <a:buSzPts val="1100"/>
              <a:buFont typeface="Arial" panose="020B0604020202020204"/>
              <a:buNone/>
            </a:pPr>
            <a:r>
              <a:rPr lang="en-US"/>
              <a:t>- And into our state machine, which that would choose which trajectory to generate</a:t>
            </a:r>
            <a:endParaRPr lang="en-US"/>
          </a:p>
          <a:p>
            <a:pPr marL="0" lvl="0" indent="0" algn="l" rtl="0">
              <a:spcBef>
                <a:spcPts val="0"/>
              </a:spcBef>
              <a:spcAft>
                <a:spcPts val="0"/>
              </a:spcAft>
              <a:buNone/>
            </a:pPr>
            <a:r>
              <a:rPr lang="en-US"/>
              <a:t>- Then the control system will update the dynamics and the visualization</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g3b5dd7d1a74_0_3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b5dd7d1a74_0_3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 the following slides we’re going to show the core of the tracking model, so we’ll start by stating how we generate the trajectories. That’s done by a state machine that regulates the phases of the flight. Our state machine takes in account 4 possible states. The first consists in the takeoff and initial hovering so the state machine will output a gentle vertical trajectory until the drone reach a threshold and from that point on it just needs to stay at level.</a:t>
            </a:r>
            <a:endParaRPr lang="en-US"/>
          </a:p>
          <a:p>
            <a:pPr marL="0" lvl="0" indent="0" algn="l" rtl="0">
              <a:spcBef>
                <a:spcPts val="0"/>
              </a:spcBef>
              <a:spcAft>
                <a:spcPts val="0"/>
              </a:spcAft>
              <a:buNone/>
            </a:pPr>
            <a:r>
              <a:rPr lang="en-US"/>
              <a:t>Then we have 2 alternatives.</a:t>
            </a:r>
            <a:endParaRPr lang="en-US"/>
          </a:p>
          <a:p>
            <a:pPr marL="0" lvl="0" indent="0" algn="l" rtl="0">
              <a:spcBef>
                <a:spcPts val="0"/>
              </a:spcBef>
              <a:spcAft>
                <a:spcPts val="0"/>
              </a:spcAft>
              <a:buNone/>
            </a:pPr>
            <a:r>
              <a:rPr lang="en-US"/>
              <a:t>If the drone detects the platform while hovering it then enters the tracking state, otherwise If the drone hasnt detected the platform in the time it was hovering </a:t>
            </a:r>
            <a:r>
              <a:rPr lang="en-US"/>
              <a:t>then</a:t>
            </a:r>
            <a:r>
              <a:rPr lang="en-US"/>
              <a:t> we enter the search state where it starts flying around the workspace along a wide radius circle until it detect the platform. If the drone detects the platform while flying around it the state machine pass to the tracking phase.</a:t>
            </a:r>
            <a:endParaRPr lang="en-US"/>
          </a:p>
          <a:p>
            <a:pPr marL="0" lvl="0" indent="0" algn="l" rtl="0">
              <a:spcBef>
                <a:spcPts val="0"/>
              </a:spcBef>
              <a:spcAft>
                <a:spcPts val="0"/>
              </a:spcAft>
              <a:buNone/>
            </a:pPr>
            <a:r>
              <a:rPr lang="en-US"/>
              <a:t>In this phase the drone lower its altitude a bit and starts following the platform until the x-y error converges.</a:t>
            </a:r>
            <a:endParaRPr lang="en-US"/>
          </a:p>
          <a:p>
            <a:pPr marL="0" lvl="0" indent="0" algn="l" rtl="0">
              <a:spcBef>
                <a:spcPts val="0"/>
              </a:spcBef>
              <a:spcAft>
                <a:spcPts val="0"/>
              </a:spcAft>
              <a:buNone/>
            </a:pPr>
            <a:r>
              <a:rPr lang="en-US"/>
              <a:t>Then, when the tracking is stable we pass to the landing phase where we gently start decreasing altitude and at the end perform the actual landing.</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g3b5dd7d1a74_0_3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5dd7d1a74_0_3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trajectory generated by the state machine is then passed as reference to the controller which is a cascade hierarchical controller where we find the position controller on the outer loop and the attitude controller on the inner loop.</a:t>
            </a:r>
            <a:endParaRPr lang="en-US"/>
          </a:p>
          <a:p>
            <a:pPr marL="0" lvl="0" indent="0" algn="l" rtl="0">
              <a:spcBef>
                <a:spcPts val="0"/>
              </a:spcBef>
              <a:spcAft>
                <a:spcPts val="0"/>
              </a:spcAft>
              <a:buNone/>
            </a:pPr>
            <a:r>
              <a:rPr lang="en-US"/>
              <a:t>Both controllers are PID controllers with feedforward terms.</a:t>
            </a:r>
            <a:endParaRPr lang="en-US"/>
          </a:p>
          <a:p>
            <a:pPr marL="0" lvl="0" indent="0" algn="l" rtl="0">
              <a:spcBef>
                <a:spcPts val="0"/>
              </a:spcBef>
              <a:spcAft>
                <a:spcPts val="0"/>
              </a:spcAft>
              <a:buNone/>
            </a:pPr>
            <a:r>
              <a:rPr lang="en-US"/>
              <a:t>The position controller computes the required thrust in order to recover from the errors along x y and z and determines the </a:t>
            </a:r>
            <a:r>
              <a:rPr lang="en-US"/>
              <a:t>reference</a:t>
            </a:r>
            <a:r>
              <a:rPr lang="en-US"/>
              <a:t> attitude for the attitude controller which then computes the required torques according to the formula shown in the slide.</a:t>
            </a:r>
            <a:endParaRPr lang="en-US"/>
          </a:p>
          <a:p>
            <a:pPr marL="0" lvl="0" indent="0" algn="l" rtl="0">
              <a:spcBef>
                <a:spcPts val="0"/>
              </a:spcBef>
              <a:spcAft>
                <a:spcPts val="0"/>
              </a:spcAft>
              <a:buNone/>
            </a:pPr>
            <a:r>
              <a:rPr lang="en-US"/>
              <a:t>Required thrust and torques are then combined and passed to the dynamic model </a:t>
            </a:r>
            <a:endParaRPr lang="en-US"/>
          </a:p>
          <a:p>
            <a:pPr marL="0" lvl="0" indent="0" algn="l" rtl="0">
              <a:spcBef>
                <a:spcPts val="0"/>
              </a:spcBef>
              <a:spcAft>
                <a:spcPts val="0"/>
              </a:spcAft>
              <a:buNone/>
            </a:pPr>
            <a:r>
              <a:rPr lang="en-US">
                <a:solidFill>
                  <a:schemeClr val="dk1"/>
                </a:solidFill>
              </a:rPr>
              <a:t>Instead of a fixed yaw, the controller calculates the target Yaw $\psi_d$ based on the velocity vector (</a:t>
            </a:r>
            <a:r>
              <a:rPr lang="en-US">
                <a:solidFill>
                  <a:srgbClr val="188038"/>
                </a:solidFill>
              </a:rPr>
              <a:t>atan2(y_d_dot, x_d_dot)</a:t>
            </a:r>
            <a:r>
              <a:rPr lang="en-US">
                <a:solidFill>
                  <a:schemeClr val="dk1"/>
                </a:solidFill>
              </a:rPr>
              <a:t>). This forces the drone to face the direction it is flying</a:t>
            </a:r>
            <a:endParaRPr lang="en-US">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g3b5dd7d1a74_0_4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5dd7d1a74_0_4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Then thrust and torques are converted according to the dynamic model into accelerations that will then be integrated to define the velocity and position of the drone.</a:t>
            </a:r>
            <a:endParaRPr lang="en-US"/>
          </a:p>
          <a:p>
            <a:pPr marL="0" lvl="0" indent="0" algn="l" rtl="0">
              <a:spcBef>
                <a:spcPts val="0"/>
              </a:spcBef>
              <a:spcAft>
                <a:spcPts val="0"/>
              </a:spcAft>
              <a:buNone/>
            </a:pPr>
            <a:r>
              <a:rPr lang="en-US"/>
              <a:t>As we can notice we used the simplified dynamic model seen during the lectures because it was suitable for a project like ours consisting in just simulations and not real life outdoor application. So no aerodynymics and gyroscopic effects were modeled. Small roll and pitch angles were ensured by limiting the possible reference angles given in output by the position controller.</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g3b5dd7d1a74_0_3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b5dd7d1a74_0_3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g3b7d6424e8a_0_3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b7d6424e8a_0_3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g3b5dd7d1a74_0_39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b5dd7d1a74_0_39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g3b7d6424e8a_0_7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b7d6424e8a_0_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g3b7d6424e8a_0_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7d6424e8a_0_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g3b7d6424e8a_0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b7d6424e8a_0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g3b7d6424e8a_0_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b7d6424e8a_0_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g3b5dd7d1a74_0_4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b5dd7d1a74_0_4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7" name="Shape 207"/>
        <p:cNvGrpSpPr/>
        <p:nvPr/>
      </p:nvGrpSpPr>
      <p:grpSpPr>
        <a:xfrm>
          <a:off x="0" y="0"/>
          <a:ext cx="0" cy="0"/>
          <a:chOff x="0" y="0"/>
          <a:chExt cx="0" cy="0"/>
        </a:xfrm>
      </p:grpSpPr>
      <p:sp>
        <p:nvSpPr>
          <p:cNvPr id="208" name="Google Shape;208;g3b5dd7d1a74_0_4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b5dd7d1a74_0_4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design has been validated by making the platform moving in 3 different ways So the first scenario consisted in the platform moving along a straight line, the second scenario consisted in the platform moving on a circular trajectory and lastly the platform performed an 8 figure trajectory.</a:t>
            </a:r>
            <a:endParaRPr lang="en-US"/>
          </a:p>
          <a:p>
            <a:pPr marL="0" lvl="0" indent="0" algn="l" rtl="0">
              <a:spcBef>
                <a:spcPts val="0"/>
              </a:spcBef>
              <a:spcAft>
                <a:spcPts val="0"/>
              </a:spcAft>
              <a:buNone/>
            </a:pPr>
            <a:r>
              <a:rPr lang="en-US"/>
              <a:t>In all scenarios the platform moved with constant velocity.</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g3b5dd7d1a74_0_4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b5dd7d1a74_0_4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rPr>
              <a:t>In the next slides I’m going to show results we achieved in the presented scenarios from the complete architecture, including vision. So starting from the linear trajectory case we can see here at the bottom the reference trajectory produced by the state machine and at the top the actual trajectory followed by the quadrotor.</a:t>
            </a:r>
            <a:endParaRPr>
              <a:solidFill>
                <a:schemeClr val="dk1"/>
              </a:solidFill>
            </a:endParaRPr>
          </a:p>
          <a:p>
            <a:pPr marL="0" lvl="0" indent="0" algn="l" rtl="0">
              <a:spcBef>
                <a:spcPts val="0"/>
              </a:spcBef>
              <a:spcAft>
                <a:spcPts val="0"/>
              </a:spcAft>
              <a:buNone/>
            </a:pPr>
            <a:r>
              <a:rPr lang="en-US">
                <a:solidFill>
                  <a:schemeClr val="dk1"/>
                </a:solidFill>
              </a:rPr>
              <a:t>By looking at the orange line, representing the z axis, we can see the different states of the flight: we notice the gradual takeoff, the hovering, the following and the very gentle landing.</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US">
                <a:solidFill>
                  <a:schemeClr val="dk1"/>
                </a:solidFill>
              </a:rPr>
              <a:t>As we can see we put a lot on emphasys on the generation of smooth trajectories without vertical steps and the results are very good.</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 name="Shape 220"/>
        <p:cNvGrpSpPr/>
        <p:nvPr/>
      </p:nvGrpSpPr>
      <p:grpSpPr>
        <a:xfrm>
          <a:off x="0" y="0"/>
          <a:ext cx="0" cy="0"/>
          <a:chOff x="0" y="0"/>
          <a:chExt cx="0" cy="0"/>
        </a:xfrm>
      </p:grpSpPr>
      <p:sp>
        <p:nvSpPr>
          <p:cNvPr id="221" name="Google Shape;221;g3b5dd7d1a74_0_45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b5dd7d1a74_0_45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Here is the video for this case</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g3b60f51007b_1_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b60f51007b_1_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Now we are considering the circular </a:t>
            </a:r>
            <a:r>
              <a:rPr lang="en-US"/>
              <a:t>trajectory</a:t>
            </a:r>
            <a:r>
              <a:rPr lang="en-US"/>
              <a:t> case. As we can see the hovering time is extended and that’s because no platform has been detected =&gt; we also enter the search state.</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4" name="Shape 234"/>
        <p:cNvGrpSpPr/>
        <p:nvPr/>
      </p:nvGrpSpPr>
      <p:grpSpPr>
        <a:xfrm>
          <a:off x="0" y="0"/>
          <a:ext cx="0" cy="0"/>
          <a:chOff x="0" y="0"/>
          <a:chExt cx="0" cy="0"/>
        </a:xfrm>
      </p:grpSpPr>
      <p:sp>
        <p:nvSpPr>
          <p:cNvPr id="235" name="Google Shape;235;g3b60f51007b_1_1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b60f51007b_1_1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1" name="Shape 241"/>
        <p:cNvGrpSpPr/>
        <p:nvPr/>
      </p:nvGrpSpPr>
      <p:grpSpPr>
        <a:xfrm>
          <a:off x="0" y="0"/>
          <a:ext cx="0" cy="0"/>
          <a:chOff x="0" y="0"/>
          <a:chExt cx="0" cy="0"/>
        </a:xfrm>
      </p:grpSpPr>
      <p:sp>
        <p:nvSpPr>
          <p:cNvPr id="242" name="Google Shape;242;g3b60f51007b_1_1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b60f51007b_1_1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8" name="Shape 248"/>
        <p:cNvGrpSpPr/>
        <p:nvPr/>
      </p:nvGrpSpPr>
      <p:grpSpPr>
        <a:xfrm>
          <a:off x="0" y="0"/>
          <a:ext cx="0" cy="0"/>
          <a:chOff x="0" y="0"/>
          <a:chExt cx="0" cy="0"/>
        </a:xfrm>
      </p:grpSpPr>
      <p:sp>
        <p:nvSpPr>
          <p:cNvPr id="249" name="Google Shape;249;g3b60f51007b_1_1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b60f51007b_1_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g3b8928cfa2b_2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b8928cfa2b_2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g3b631a000bd_0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b631a000bd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4" name="Shape 284"/>
        <p:cNvGrpSpPr/>
        <p:nvPr/>
      </p:nvGrpSpPr>
      <p:grpSpPr>
        <a:xfrm>
          <a:off x="0" y="0"/>
          <a:ext cx="0" cy="0"/>
          <a:chOff x="0" y="0"/>
          <a:chExt cx="0" cy="0"/>
        </a:xfrm>
      </p:grpSpPr>
      <p:sp>
        <p:nvSpPr>
          <p:cNvPr id="285" name="Google Shape;285;g3b5dd7d1a74_0_48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b5dd7d1a74_0_48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2" name="Shape 292"/>
        <p:cNvGrpSpPr/>
        <p:nvPr/>
      </p:nvGrpSpPr>
      <p:grpSpPr>
        <a:xfrm>
          <a:off x="0" y="0"/>
          <a:ext cx="0" cy="0"/>
          <a:chOff x="0" y="0"/>
          <a:chExt cx="0" cy="0"/>
        </a:xfrm>
      </p:grpSpPr>
      <p:sp>
        <p:nvSpPr>
          <p:cNvPr id="293" name="Google Shape;293;g3b86fdb7689_0_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g3b86fdb7689_0_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2"/>
        </a:solidFill>
        <a:effectLst/>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729625" y="676413"/>
            <a:ext cx="7688100" cy="166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200"/>
              <a:buFont typeface="Catamaran"/>
              <a:buNone/>
              <a:defRPr sz="4200">
                <a:solidFill>
                  <a:schemeClr val="dk2"/>
                </a:solidFill>
                <a:latin typeface="Catamaran"/>
                <a:ea typeface="Catamaran"/>
                <a:cs typeface="Catamaran"/>
                <a:sym typeface="Catamaran"/>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p:txBody>
      </p:sp>
      <p:sp>
        <p:nvSpPr>
          <p:cNvPr id="11" name="Google Shape;11;p2"/>
          <p:cNvSpPr txBox="1"/>
          <p:nvPr>
            <p:ph type="subTitle" idx="1"/>
          </p:nvPr>
        </p:nvSpPr>
        <p:spPr>
          <a:xfrm>
            <a:off x="729627" y="2301150"/>
            <a:ext cx="76881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Font typeface="Catamaran"/>
              <a:buNone/>
              <a:defRPr sz="1600">
                <a:latin typeface="Catamaran"/>
                <a:ea typeface="Catamaran"/>
                <a:cs typeface="Catamaran"/>
                <a:sym typeface="Catamaran"/>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2" name="Google Shape;12;p2"/>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9pPr>
          </a:lstStyle>
          <a:p>
            <a:pPr marL="0" lvl="0" indent="0" algn="r" rtl="0">
              <a:spcBef>
                <a:spcPts val="0"/>
              </a:spcBef>
              <a:spcAft>
                <a:spcPts val="0"/>
              </a:spcAft>
              <a:buNone/>
            </a:pPr>
            <a:fld id="{00000000-1234-1234-1234-123412341234}" type="slidenum">
              <a:rPr lang="en-US"/>
            </a:fld>
            <a:endParaRPr lang="en-US"/>
          </a:p>
        </p:txBody>
      </p:sp>
      <p:pic>
        <p:nvPicPr>
          <p:cNvPr id="13" name="Google Shape;13;p2"/>
          <p:cNvPicPr preferRelativeResize="0"/>
          <p:nvPr/>
        </p:nvPicPr>
        <p:blipFill rotWithShape="1">
          <a:blip r:embed="rId2">
            <a:alphaModFix amt="25000"/>
          </a:blip>
          <a:srcRect/>
          <a:stretch>
            <a:fillRect/>
          </a:stretch>
        </p:blipFill>
        <p:spPr>
          <a:xfrm>
            <a:off x="6259425" y="2453225"/>
            <a:ext cx="2884575" cy="2690199"/>
          </a:xfrm>
          <a:prstGeom prst="rect">
            <a:avLst/>
          </a:prstGeom>
          <a:noFill/>
          <a:ln>
            <a:noFill/>
          </a:ln>
        </p:spPr>
      </p:pic>
      <p:sp>
        <p:nvSpPr>
          <p:cNvPr id="14" name="Google Shape;14;p2"/>
          <p:cNvSpPr/>
          <p:nvPr/>
        </p:nvSpPr>
        <p:spPr>
          <a:xfrm>
            <a:off x="830400" y="476088"/>
            <a:ext cx="548700" cy="88200"/>
          </a:xfrm>
          <a:prstGeom prst="rect">
            <a:avLst/>
          </a:prstGeom>
          <a:solidFill>
            <a:srgbClr val="0067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2"/>
          <p:cNvSpPr/>
          <p:nvPr/>
        </p:nvSpPr>
        <p:spPr>
          <a:xfrm>
            <a:off x="1338275" y="476088"/>
            <a:ext cx="548700" cy="88200"/>
          </a:xfrm>
          <a:prstGeom prst="rect">
            <a:avLst/>
          </a:pr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3"/>
          <p:cNvSpPr txBox="1"/>
          <p:nvPr>
            <p:ph type="title"/>
          </p:nvPr>
        </p:nvSpPr>
        <p:spPr>
          <a:xfrm>
            <a:off x="727650" y="861800"/>
            <a:ext cx="76887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18" name="Google Shape;18;p3"/>
          <p:cNvSpPr txBox="1"/>
          <p:nvPr>
            <p:ph type="body" idx="1"/>
          </p:nvPr>
        </p:nvSpPr>
        <p:spPr>
          <a:xfrm>
            <a:off x="727650" y="1622025"/>
            <a:ext cx="76887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p:txBody>
      </p:sp>
      <p:sp>
        <p:nvSpPr>
          <p:cNvPr id="19" name="Google Shape;19;p3"/>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9pPr>
          </a:lstStyle>
          <a:p>
            <a:pPr marL="0" lvl="0" indent="0" algn="r" rtl="0">
              <a:spcBef>
                <a:spcPts val="0"/>
              </a:spcBef>
              <a:spcAft>
                <a:spcPts val="0"/>
              </a:spcAft>
              <a:buNone/>
            </a:pPr>
            <a:fld id="{00000000-1234-1234-1234-123412341234}" type="slidenum">
              <a:rPr lang="en-US"/>
            </a:fld>
            <a:endParaRPr lang="en-US"/>
          </a:p>
        </p:txBody>
      </p:sp>
      <p:sp>
        <p:nvSpPr>
          <p:cNvPr id="20" name="Google Shape;20;p3"/>
          <p:cNvSpPr/>
          <p:nvPr/>
        </p:nvSpPr>
        <p:spPr>
          <a:xfrm>
            <a:off x="0" y="4129750"/>
            <a:ext cx="1327200" cy="1013700"/>
          </a:xfrm>
          <a:prstGeom prst="rtTriangle">
            <a:avLst/>
          </a:pr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 name="Google Shape;21;p3"/>
          <p:cNvPicPr preferRelativeResize="0"/>
          <p:nvPr/>
        </p:nvPicPr>
        <p:blipFill rotWithShape="1">
          <a:blip r:embed="rId2"/>
          <a:srcRect l="7088" t="14912" r="9620" b="16523"/>
          <a:stretch>
            <a:fillRect/>
          </a:stretch>
        </p:blipFill>
        <p:spPr>
          <a:xfrm>
            <a:off x="99550" y="4626400"/>
            <a:ext cx="505675" cy="487800"/>
          </a:xfrm>
          <a:prstGeom prst="rect">
            <a:avLst/>
          </a:prstGeom>
          <a:noFill/>
          <a:ln>
            <a:noFill/>
          </a:ln>
        </p:spPr>
      </p:pic>
      <p:sp>
        <p:nvSpPr>
          <p:cNvPr id="22" name="Google Shape;22;p3"/>
          <p:cNvSpPr/>
          <p:nvPr/>
        </p:nvSpPr>
        <p:spPr>
          <a:xfrm rot="10800000" flipH="1">
            <a:off x="828588" y="734362"/>
            <a:ext cx="372900" cy="45900"/>
          </a:xfrm>
          <a:prstGeom prst="rect">
            <a:avLst/>
          </a:prstGeom>
          <a:solidFill>
            <a:srgbClr val="0067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23;p3"/>
          <p:cNvSpPr/>
          <p:nvPr/>
        </p:nvSpPr>
        <p:spPr>
          <a:xfrm rot="10800000" flipH="1">
            <a:off x="1201463" y="734362"/>
            <a:ext cx="372900" cy="45900"/>
          </a:xfrm>
          <a:prstGeom prst="rect">
            <a:avLst/>
          </a:pr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24;p3"/>
          <p:cNvSpPr txBox="1"/>
          <p:nvPr>
            <p:ph type="subTitle" idx="2"/>
          </p:nvPr>
        </p:nvSpPr>
        <p:spPr>
          <a:xfrm>
            <a:off x="1401950" y="4779100"/>
            <a:ext cx="5854500" cy="335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900"/>
              <a:buNone/>
              <a:defRPr sz="900"/>
            </a:lvl1pPr>
            <a:lvl2pPr lvl="1" algn="l">
              <a:lnSpc>
                <a:spcPct val="115000"/>
              </a:lnSpc>
              <a:spcBef>
                <a:spcPts val="1600"/>
              </a:spcBef>
              <a:spcAft>
                <a:spcPts val="0"/>
              </a:spcAft>
              <a:buSzPts val="1100"/>
              <a:buNone/>
              <a:defRPr/>
            </a:lvl2pPr>
            <a:lvl3pPr lvl="2" algn="l">
              <a:lnSpc>
                <a:spcPct val="115000"/>
              </a:lnSpc>
              <a:spcBef>
                <a:spcPts val="1600"/>
              </a:spcBef>
              <a:spcAft>
                <a:spcPts val="0"/>
              </a:spcAft>
              <a:buSzPts val="11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100"/>
              <a:buNone/>
              <a:defRPr/>
            </a:lvl5pPr>
            <a:lvl6pPr lvl="5" algn="l">
              <a:lnSpc>
                <a:spcPct val="115000"/>
              </a:lnSpc>
              <a:spcBef>
                <a:spcPts val="1600"/>
              </a:spcBef>
              <a:spcAft>
                <a:spcPts val="0"/>
              </a:spcAft>
              <a:buSzPts val="1100"/>
              <a:buNone/>
              <a:defRPr/>
            </a:lvl6pPr>
            <a:lvl7pPr lvl="6" algn="l">
              <a:lnSpc>
                <a:spcPct val="115000"/>
              </a:lnSpc>
              <a:spcBef>
                <a:spcPts val="1600"/>
              </a:spcBef>
              <a:spcAft>
                <a:spcPts val="0"/>
              </a:spcAft>
              <a:buSzPts val="1100"/>
              <a:buNone/>
              <a:defRPr/>
            </a:lvl7pPr>
            <a:lvl8pPr lvl="7" algn="l">
              <a:lnSpc>
                <a:spcPct val="115000"/>
              </a:lnSpc>
              <a:spcBef>
                <a:spcPts val="1600"/>
              </a:spcBef>
              <a:spcAft>
                <a:spcPts val="0"/>
              </a:spcAft>
              <a:buSzPts val="1100"/>
              <a:buNone/>
              <a:defRPr/>
            </a:lvl8pPr>
            <a:lvl9pPr lvl="8" algn="l">
              <a:lnSpc>
                <a:spcPct val="115000"/>
              </a:lnSpc>
              <a:spcBef>
                <a:spcPts val="1600"/>
              </a:spcBef>
              <a:spcAft>
                <a:spcPts val="1600"/>
              </a:spcAft>
              <a:buSzPts val="11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p4"/>
          <p:cNvSpPr/>
          <p:nvPr/>
        </p:nvSpPr>
        <p:spPr>
          <a:xfrm>
            <a:off x="0" y="0"/>
            <a:ext cx="38727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 name="Google Shape;27;p4"/>
          <p:cNvSpPr txBox="1"/>
          <p:nvPr>
            <p:ph type="title"/>
          </p:nvPr>
        </p:nvSpPr>
        <p:spPr>
          <a:xfrm>
            <a:off x="385050" y="472350"/>
            <a:ext cx="3300900" cy="1360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28" name="Google Shape;28;p4"/>
          <p:cNvSpPr txBox="1"/>
          <p:nvPr>
            <p:ph type="subTitle" idx="1"/>
          </p:nvPr>
        </p:nvSpPr>
        <p:spPr>
          <a:xfrm>
            <a:off x="385050" y="2192375"/>
            <a:ext cx="3300900" cy="240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9" name="Google Shape;29;p4"/>
          <p:cNvSpPr txBox="1"/>
          <p:nvPr>
            <p:ph type="body" idx="2"/>
          </p:nvPr>
        </p:nvSpPr>
        <p:spPr>
          <a:xfrm>
            <a:off x="5161900" y="831575"/>
            <a:ext cx="3374400" cy="3025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p:txBody>
      </p:sp>
      <p:sp>
        <p:nvSpPr>
          <p:cNvPr id="30" name="Google Shape;30;p4"/>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9pPr>
          </a:lstStyle>
          <a:p>
            <a:pPr marL="0" lvl="0" indent="0" algn="r" rtl="0">
              <a:spcBef>
                <a:spcPts val="0"/>
              </a:spcBef>
              <a:spcAft>
                <a:spcPts val="0"/>
              </a:spcAft>
              <a:buNone/>
            </a:pPr>
            <a:fld id="{00000000-1234-1234-1234-123412341234}" type="slidenum">
              <a:rPr lang="en-US"/>
            </a:fld>
            <a:endParaRPr lang="en-US"/>
          </a:p>
        </p:txBody>
      </p:sp>
      <p:sp>
        <p:nvSpPr>
          <p:cNvPr id="31" name="Google Shape;31;p4"/>
          <p:cNvSpPr/>
          <p:nvPr/>
        </p:nvSpPr>
        <p:spPr>
          <a:xfrm>
            <a:off x="0" y="4129750"/>
            <a:ext cx="1327200" cy="1013700"/>
          </a:xfrm>
          <a:prstGeom prst="rtTriangle">
            <a:avLst/>
          </a:pr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32" name="Google Shape;32;p4"/>
          <p:cNvPicPr preferRelativeResize="0"/>
          <p:nvPr/>
        </p:nvPicPr>
        <p:blipFill rotWithShape="1">
          <a:blip r:embed="rId2"/>
          <a:srcRect t="13651" b="17785"/>
          <a:stretch>
            <a:fillRect/>
          </a:stretch>
        </p:blipFill>
        <p:spPr>
          <a:xfrm>
            <a:off x="0" y="4597050"/>
            <a:ext cx="607175" cy="487800"/>
          </a:xfrm>
          <a:prstGeom prst="rect">
            <a:avLst/>
          </a:prstGeom>
          <a:noFill/>
          <a:ln>
            <a:noFill/>
          </a:ln>
        </p:spPr>
      </p:pic>
      <p:sp>
        <p:nvSpPr>
          <p:cNvPr id="33" name="Google Shape;33;p4"/>
          <p:cNvSpPr/>
          <p:nvPr/>
        </p:nvSpPr>
        <p:spPr>
          <a:xfrm rot="10800000" flipH="1">
            <a:off x="828588" y="309812"/>
            <a:ext cx="372900" cy="45900"/>
          </a:xfrm>
          <a:prstGeom prst="rect">
            <a:avLst/>
          </a:prstGeom>
          <a:solidFill>
            <a:srgbClr val="0067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34;p4"/>
          <p:cNvSpPr/>
          <p:nvPr/>
        </p:nvSpPr>
        <p:spPr>
          <a:xfrm rot="10800000" flipH="1">
            <a:off x="1201488" y="309812"/>
            <a:ext cx="372900" cy="45900"/>
          </a:xfrm>
          <a:prstGeom prst="rect">
            <a:avLst/>
          </a:pr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35;p4"/>
          <p:cNvSpPr txBox="1"/>
          <p:nvPr>
            <p:ph type="subTitle" idx="3"/>
          </p:nvPr>
        </p:nvSpPr>
        <p:spPr>
          <a:xfrm>
            <a:off x="1414800" y="4779100"/>
            <a:ext cx="5854500" cy="335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900"/>
              <a:buNone/>
              <a:defRPr sz="900"/>
            </a:lvl1pPr>
            <a:lvl2pPr lvl="1" algn="l">
              <a:lnSpc>
                <a:spcPct val="115000"/>
              </a:lnSpc>
              <a:spcBef>
                <a:spcPts val="1600"/>
              </a:spcBef>
              <a:spcAft>
                <a:spcPts val="0"/>
              </a:spcAft>
              <a:buSzPts val="1100"/>
              <a:buNone/>
              <a:defRPr/>
            </a:lvl2pPr>
            <a:lvl3pPr lvl="2" algn="l">
              <a:lnSpc>
                <a:spcPct val="115000"/>
              </a:lnSpc>
              <a:spcBef>
                <a:spcPts val="1600"/>
              </a:spcBef>
              <a:spcAft>
                <a:spcPts val="0"/>
              </a:spcAft>
              <a:buSzPts val="11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100"/>
              <a:buNone/>
              <a:defRPr/>
            </a:lvl5pPr>
            <a:lvl6pPr lvl="5" algn="l">
              <a:lnSpc>
                <a:spcPct val="115000"/>
              </a:lnSpc>
              <a:spcBef>
                <a:spcPts val="1600"/>
              </a:spcBef>
              <a:spcAft>
                <a:spcPts val="0"/>
              </a:spcAft>
              <a:buSzPts val="1100"/>
              <a:buNone/>
              <a:defRPr/>
            </a:lvl6pPr>
            <a:lvl7pPr lvl="6" algn="l">
              <a:lnSpc>
                <a:spcPct val="115000"/>
              </a:lnSpc>
              <a:spcBef>
                <a:spcPts val="1600"/>
              </a:spcBef>
              <a:spcAft>
                <a:spcPts val="0"/>
              </a:spcAft>
              <a:buSzPts val="1100"/>
              <a:buNone/>
              <a:defRPr/>
            </a:lvl7pPr>
            <a:lvl8pPr lvl="7" algn="l">
              <a:lnSpc>
                <a:spcPct val="115000"/>
              </a:lnSpc>
              <a:spcBef>
                <a:spcPts val="1600"/>
              </a:spcBef>
              <a:spcAft>
                <a:spcPts val="0"/>
              </a:spcAft>
              <a:buSzPts val="1100"/>
              <a:buNone/>
              <a:defRPr/>
            </a:lvl8pPr>
            <a:lvl9pPr lvl="8" algn="l">
              <a:lnSpc>
                <a:spcPct val="115000"/>
              </a:lnSpc>
              <a:spcBef>
                <a:spcPts val="1600"/>
              </a:spcBef>
              <a:spcAft>
                <a:spcPts val="1600"/>
              </a:spcAft>
              <a:buSzPts val="1100"/>
              <a:buNone/>
              <a:defRPr/>
            </a:lvl9pPr>
          </a:lstStyle>
          <a:p/>
        </p:txBody>
      </p:sp>
      <p:sp>
        <p:nvSpPr>
          <p:cNvPr id="36" name="Google Shape;36;p4"/>
          <p:cNvSpPr/>
          <p:nvPr/>
        </p:nvSpPr>
        <p:spPr>
          <a:xfrm>
            <a:off x="0" y="4129750"/>
            <a:ext cx="1327200" cy="1013700"/>
          </a:xfrm>
          <a:prstGeom prst="rtTriangle">
            <a:avLst/>
          </a:pr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37" name="Google Shape;37;p4"/>
          <p:cNvPicPr preferRelativeResize="0"/>
          <p:nvPr/>
        </p:nvPicPr>
        <p:blipFill rotWithShape="1">
          <a:blip r:embed="rId2"/>
          <a:srcRect l="7088" t="14912" r="9620" b="16523"/>
          <a:stretch>
            <a:fillRect/>
          </a:stretch>
        </p:blipFill>
        <p:spPr>
          <a:xfrm>
            <a:off x="99550" y="4626400"/>
            <a:ext cx="505675" cy="4878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TITLE_1">
    <p:bg>
      <p:bgPr>
        <a:solidFill>
          <a:schemeClr val="lt2"/>
        </a:solidFill>
        <a:effectLst/>
      </p:bgPr>
    </p:bg>
    <p:spTree>
      <p:nvGrpSpPr>
        <p:cNvPr id="38" name="Shape 38"/>
        <p:cNvGrpSpPr/>
        <p:nvPr/>
      </p:nvGrpSpPr>
      <p:grpSpPr>
        <a:xfrm>
          <a:off x="0" y="0"/>
          <a:ext cx="0" cy="0"/>
          <a:chOff x="0" y="0"/>
          <a:chExt cx="0" cy="0"/>
        </a:xfrm>
      </p:grpSpPr>
      <p:sp>
        <p:nvSpPr>
          <p:cNvPr id="39" name="Google Shape;39;p5"/>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9pPr>
          </a:lstStyle>
          <a:p>
            <a:pPr marL="0" lvl="0" indent="0" algn="r" rtl="0">
              <a:spcBef>
                <a:spcPts val="0"/>
              </a:spcBef>
              <a:spcAft>
                <a:spcPts val="0"/>
              </a:spcAft>
              <a:buNone/>
            </a:pPr>
            <a:fld id="{00000000-1234-1234-1234-123412341234}" type="slidenum">
              <a:rPr lang="en-US"/>
            </a:fld>
            <a:endParaRPr lang="en-US"/>
          </a:p>
        </p:txBody>
      </p:sp>
      <p:sp>
        <p:nvSpPr>
          <p:cNvPr id="40" name="Google Shape;40;p5"/>
          <p:cNvSpPr txBox="1"/>
          <p:nvPr/>
        </p:nvSpPr>
        <p:spPr>
          <a:xfrm>
            <a:off x="347725" y="1983300"/>
            <a:ext cx="923700" cy="8412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4800"/>
              <a:buFont typeface="Arial" panose="020B0604020202020204"/>
              <a:buNone/>
            </a:pPr>
            <a:r>
              <a:rPr lang="en-US" sz="4800" b="0" i="0" u="none" strike="noStrike" cap="none">
                <a:solidFill>
                  <a:srgbClr val="000000"/>
                </a:solidFill>
                <a:latin typeface="Raleway"/>
                <a:ea typeface="Raleway"/>
                <a:cs typeface="Raleway"/>
                <a:sym typeface="Raleway"/>
              </a:rPr>
              <a:t>1</a:t>
            </a:r>
            <a:endParaRPr sz="4800" b="0" i="0" u="none" strike="noStrike" cap="none">
              <a:solidFill>
                <a:srgbClr val="000000"/>
              </a:solidFill>
              <a:latin typeface="Raleway"/>
              <a:ea typeface="Raleway"/>
              <a:cs typeface="Raleway"/>
              <a:sym typeface="Raleway"/>
            </a:endParaRPr>
          </a:p>
        </p:txBody>
      </p:sp>
      <p:sp>
        <p:nvSpPr>
          <p:cNvPr id="41" name="Google Shape;41;p5"/>
          <p:cNvSpPr txBox="1"/>
          <p:nvPr/>
        </p:nvSpPr>
        <p:spPr>
          <a:xfrm>
            <a:off x="347725" y="2937794"/>
            <a:ext cx="923700" cy="8412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4800"/>
              <a:buFont typeface="Arial" panose="020B0604020202020204"/>
              <a:buNone/>
            </a:pPr>
            <a:r>
              <a:rPr lang="en-US" sz="4800" b="0" i="0" u="none" strike="noStrike" cap="none">
                <a:solidFill>
                  <a:srgbClr val="000000"/>
                </a:solidFill>
                <a:latin typeface="Raleway"/>
                <a:ea typeface="Raleway"/>
                <a:cs typeface="Raleway"/>
                <a:sym typeface="Raleway"/>
              </a:rPr>
              <a:t>3</a:t>
            </a:r>
            <a:endParaRPr sz="4800" b="0" i="0" u="none" strike="noStrike" cap="none">
              <a:solidFill>
                <a:srgbClr val="000000"/>
              </a:solidFill>
              <a:latin typeface="Raleway"/>
              <a:ea typeface="Raleway"/>
              <a:cs typeface="Raleway"/>
              <a:sym typeface="Raleway"/>
            </a:endParaRPr>
          </a:p>
        </p:txBody>
      </p:sp>
      <p:sp>
        <p:nvSpPr>
          <p:cNvPr id="42" name="Google Shape;42;p5"/>
          <p:cNvSpPr txBox="1"/>
          <p:nvPr/>
        </p:nvSpPr>
        <p:spPr>
          <a:xfrm>
            <a:off x="4167025" y="1983300"/>
            <a:ext cx="923700" cy="8412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4800"/>
              <a:buFont typeface="Arial" panose="020B0604020202020204"/>
              <a:buNone/>
            </a:pPr>
            <a:r>
              <a:rPr lang="en-US" sz="4800" b="0" i="0" u="none" strike="noStrike" cap="none">
                <a:solidFill>
                  <a:srgbClr val="000000"/>
                </a:solidFill>
                <a:latin typeface="Raleway"/>
                <a:ea typeface="Raleway"/>
                <a:cs typeface="Raleway"/>
                <a:sym typeface="Raleway"/>
              </a:rPr>
              <a:t>2</a:t>
            </a:r>
            <a:endParaRPr sz="4800" b="0" i="0" u="none" strike="noStrike" cap="none">
              <a:solidFill>
                <a:srgbClr val="000000"/>
              </a:solidFill>
              <a:latin typeface="Raleway"/>
              <a:ea typeface="Raleway"/>
              <a:cs typeface="Raleway"/>
              <a:sym typeface="Raleway"/>
            </a:endParaRPr>
          </a:p>
        </p:txBody>
      </p:sp>
      <p:sp>
        <p:nvSpPr>
          <p:cNvPr id="43" name="Google Shape;43;p5"/>
          <p:cNvSpPr txBox="1"/>
          <p:nvPr/>
        </p:nvSpPr>
        <p:spPr>
          <a:xfrm>
            <a:off x="4167025" y="2937794"/>
            <a:ext cx="923700" cy="8412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4800"/>
              <a:buFont typeface="Arial" panose="020B0604020202020204"/>
              <a:buNone/>
            </a:pPr>
            <a:r>
              <a:rPr lang="en-US" sz="4800" b="0" i="0" u="none" strike="noStrike" cap="none">
                <a:solidFill>
                  <a:srgbClr val="000000"/>
                </a:solidFill>
                <a:latin typeface="Raleway"/>
                <a:ea typeface="Raleway"/>
                <a:cs typeface="Raleway"/>
                <a:sym typeface="Raleway"/>
              </a:rPr>
              <a:t>4</a:t>
            </a:r>
            <a:endParaRPr sz="4800" b="0" i="0" u="none" strike="noStrike" cap="none">
              <a:solidFill>
                <a:srgbClr val="000000"/>
              </a:solidFill>
              <a:latin typeface="Raleway"/>
              <a:ea typeface="Raleway"/>
              <a:cs typeface="Raleway"/>
              <a:sym typeface="Raleway"/>
            </a:endParaRPr>
          </a:p>
        </p:txBody>
      </p:sp>
      <p:sp>
        <p:nvSpPr>
          <p:cNvPr id="44" name="Google Shape;44;p5"/>
          <p:cNvSpPr/>
          <p:nvPr/>
        </p:nvSpPr>
        <p:spPr>
          <a:xfrm>
            <a:off x="1414300" y="1983327"/>
            <a:ext cx="26525" cy="841231"/>
          </a:xfrm>
          <a:custGeom>
            <a:avLst/>
            <a:gdLst/>
            <a:ahLst/>
            <a:cxnLst/>
            <a:rect l="l" t="t" r="r" b="b"/>
            <a:pathLst>
              <a:path w="1061" h="31989" extrusionOk="0">
                <a:moveTo>
                  <a:pt x="0" y="0"/>
                </a:moveTo>
                <a:lnTo>
                  <a:pt x="0" y="31989"/>
                </a:lnTo>
                <a:lnTo>
                  <a:pt x="1060" y="31989"/>
                </a:lnTo>
                <a:lnTo>
                  <a:pt x="1060" y="0"/>
                </a:lnTo>
                <a:close/>
              </a:path>
            </a:pathLst>
          </a:cu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Raleway"/>
              <a:ea typeface="Raleway"/>
              <a:cs typeface="Raleway"/>
              <a:sym typeface="Raleway"/>
            </a:endParaRPr>
          </a:p>
        </p:txBody>
      </p:sp>
      <p:sp>
        <p:nvSpPr>
          <p:cNvPr id="45" name="Google Shape;45;p5"/>
          <p:cNvSpPr/>
          <p:nvPr/>
        </p:nvSpPr>
        <p:spPr>
          <a:xfrm>
            <a:off x="1414300" y="2937820"/>
            <a:ext cx="26525" cy="841231"/>
          </a:xfrm>
          <a:custGeom>
            <a:avLst/>
            <a:gdLst/>
            <a:ahLst/>
            <a:cxnLst/>
            <a:rect l="l" t="t" r="r" b="b"/>
            <a:pathLst>
              <a:path w="1061" h="31989" extrusionOk="0">
                <a:moveTo>
                  <a:pt x="0" y="0"/>
                </a:moveTo>
                <a:lnTo>
                  <a:pt x="0" y="31989"/>
                </a:lnTo>
                <a:lnTo>
                  <a:pt x="1060" y="31989"/>
                </a:lnTo>
                <a:lnTo>
                  <a:pt x="1060" y="0"/>
                </a:lnTo>
                <a:close/>
              </a:path>
            </a:pathLst>
          </a:cu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Raleway"/>
              <a:ea typeface="Raleway"/>
              <a:cs typeface="Raleway"/>
              <a:sym typeface="Raleway"/>
            </a:endParaRPr>
          </a:p>
        </p:txBody>
      </p:sp>
      <p:sp>
        <p:nvSpPr>
          <p:cNvPr id="46" name="Google Shape;46;p5"/>
          <p:cNvSpPr/>
          <p:nvPr/>
        </p:nvSpPr>
        <p:spPr>
          <a:xfrm>
            <a:off x="5233600" y="1983327"/>
            <a:ext cx="26525" cy="841231"/>
          </a:xfrm>
          <a:custGeom>
            <a:avLst/>
            <a:gdLst/>
            <a:ahLst/>
            <a:cxnLst/>
            <a:rect l="l" t="t" r="r" b="b"/>
            <a:pathLst>
              <a:path w="1061" h="31989" extrusionOk="0">
                <a:moveTo>
                  <a:pt x="0" y="0"/>
                </a:moveTo>
                <a:lnTo>
                  <a:pt x="0" y="31989"/>
                </a:lnTo>
                <a:lnTo>
                  <a:pt x="1060" y="31989"/>
                </a:lnTo>
                <a:lnTo>
                  <a:pt x="1060" y="0"/>
                </a:lnTo>
                <a:close/>
              </a:path>
            </a:pathLst>
          </a:custGeom>
          <a:solidFill>
            <a:srgbClr val="0067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Raleway"/>
              <a:ea typeface="Raleway"/>
              <a:cs typeface="Raleway"/>
              <a:sym typeface="Raleway"/>
            </a:endParaRPr>
          </a:p>
        </p:txBody>
      </p:sp>
      <p:sp>
        <p:nvSpPr>
          <p:cNvPr id="47" name="Google Shape;47;p5"/>
          <p:cNvSpPr/>
          <p:nvPr/>
        </p:nvSpPr>
        <p:spPr>
          <a:xfrm>
            <a:off x="5233600" y="2937820"/>
            <a:ext cx="26525" cy="841231"/>
          </a:xfrm>
          <a:custGeom>
            <a:avLst/>
            <a:gdLst/>
            <a:ahLst/>
            <a:cxnLst/>
            <a:rect l="l" t="t" r="r" b="b"/>
            <a:pathLst>
              <a:path w="1061" h="31989" extrusionOk="0">
                <a:moveTo>
                  <a:pt x="0" y="0"/>
                </a:moveTo>
                <a:lnTo>
                  <a:pt x="0" y="31989"/>
                </a:lnTo>
                <a:lnTo>
                  <a:pt x="1060" y="31989"/>
                </a:lnTo>
                <a:lnTo>
                  <a:pt x="1060" y="0"/>
                </a:lnTo>
                <a:close/>
              </a:path>
            </a:pathLst>
          </a:custGeom>
          <a:solidFill>
            <a:srgbClr val="0067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Raleway"/>
              <a:ea typeface="Raleway"/>
              <a:cs typeface="Raleway"/>
              <a:sym typeface="Raleway"/>
            </a:endParaRPr>
          </a:p>
        </p:txBody>
      </p:sp>
      <p:sp>
        <p:nvSpPr>
          <p:cNvPr id="48" name="Google Shape;48;p5"/>
          <p:cNvSpPr txBox="1"/>
          <p:nvPr>
            <p:ph type="title"/>
          </p:nvPr>
        </p:nvSpPr>
        <p:spPr>
          <a:xfrm>
            <a:off x="727650" y="861800"/>
            <a:ext cx="76887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49" name="Google Shape;49;p5"/>
          <p:cNvSpPr/>
          <p:nvPr/>
        </p:nvSpPr>
        <p:spPr>
          <a:xfrm rot="10800000" flipH="1">
            <a:off x="828588" y="734362"/>
            <a:ext cx="372900" cy="45900"/>
          </a:xfrm>
          <a:prstGeom prst="rect">
            <a:avLst/>
          </a:prstGeom>
          <a:solidFill>
            <a:srgbClr val="0067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0;p5"/>
          <p:cNvSpPr/>
          <p:nvPr/>
        </p:nvSpPr>
        <p:spPr>
          <a:xfrm rot="10800000" flipH="1">
            <a:off x="1201463" y="734362"/>
            <a:ext cx="372900" cy="45900"/>
          </a:xfrm>
          <a:prstGeom prst="rect">
            <a:avLst/>
          </a:pr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51" name="Google Shape;51;p5"/>
          <p:cNvPicPr preferRelativeResize="0"/>
          <p:nvPr/>
        </p:nvPicPr>
        <p:blipFill rotWithShape="1">
          <a:blip r:embed="rId2">
            <a:alphaModFix amt="25000"/>
          </a:blip>
          <a:srcRect/>
          <a:stretch>
            <a:fillRect/>
          </a:stretch>
        </p:blipFill>
        <p:spPr>
          <a:xfrm>
            <a:off x="7922487" y="2407925"/>
            <a:ext cx="1776325" cy="1656624"/>
          </a:xfrm>
          <a:prstGeom prst="rect">
            <a:avLst/>
          </a:prstGeom>
          <a:noFill/>
          <a:ln>
            <a:noFill/>
          </a:ln>
        </p:spPr>
      </p:pic>
      <p:sp>
        <p:nvSpPr>
          <p:cNvPr id="52" name="Google Shape;52;p5"/>
          <p:cNvSpPr txBox="1"/>
          <p:nvPr/>
        </p:nvSpPr>
        <p:spPr>
          <a:xfrm>
            <a:off x="347725" y="3875250"/>
            <a:ext cx="923700" cy="8412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4800"/>
              <a:buFont typeface="Arial" panose="020B0604020202020204"/>
              <a:buNone/>
            </a:pPr>
            <a:r>
              <a:rPr lang="en-US" sz="4800" b="0" i="0" u="none" strike="noStrike" cap="none">
                <a:solidFill>
                  <a:srgbClr val="000000"/>
                </a:solidFill>
                <a:latin typeface="Raleway"/>
                <a:ea typeface="Raleway"/>
                <a:cs typeface="Raleway"/>
                <a:sym typeface="Raleway"/>
              </a:rPr>
              <a:t>5</a:t>
            </a:r>
            <a:endParaRPr sz="4800" b="0" i="0" u="none" strike="noStrike" cap="none">
              <a:solidFill>
                <a:srgbClr val="000000"/>
              </a:solidFill>
              <a:latin typeface="Raleway"/>
              <a:ea typeface="Raleway"/>
              <a:cs typeface="Raleway"/>
              <a:sym typeface="Raleway"/>
            </a:endParaRPr>
          </a:p>
        </p:txBody>
      </p:sp>
      <p:sp>
        <p:nvSpPr>
          <p:cNvPr id="53" name="Google Shape;53;p5"/>
          <p:cNvSpPr txBox="1"/>
          <p:nvPr/>
        </p:nvSpPr>
        <p:spPr>
          <a:xfrm>
            <a:off x="4167025" y="3875250"/>
            <a:ext cx="923700" cy="8412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Clr>
                <a:srgbClr val="000000"/>
              </a:buClr>
              <a:buSzPts val="4800"/>
              <a:buFont typeface="Arial" panose="020B0604020202020204"/>
              <a:buNone/>
            </a:pPr>
            <a:r>
              <a:rPr lang="en-US" sz="4800" b="0" i="0" u="none" strike="noStrike" cap="none">
                <a:solidFill>
                  <a:srgbClr val="000000"/>
                </a:solidFill>
                <a:latin typeface="Raleway"/>
                <a:ea typeface="Raleway"/>
                <a:cs typeface="Raleway"/>
                <a:sym typeface="Raleway"/>
              </a:rPr>
              <a:t>6</a:t>
            </a:r>
            <a:endParaRPr sz="4800" b="0" i="0" u="none" strike="noStrike" cap="none">
              <a:solidFill>
                <a:srgbClr val="000000"/>
              </a:solidFill>
              <a:latin typeface="Raleway"/>
              <a:ea typeface="Raleway"/>
              <a:cs typeface="Raleway"/>
              <a:sym typeface="Raleway"/>
            </a:endParaRPr>
          </a:p>
        </p:txBody>
      </p:sp>
      <p:sp>
        <p:nvSpPr>
          <p:cNvPr id="54" name="Google Shape;54;p5"/>
          <p:cNvSpPr/>
          <p:nvPr/>
        </p:nvSpPr>
        <p:spPr>
          <a:xfrm>
            <a:off x="1414300" y="3875277"/>
            <a:ext cx="26525" cy="841231"/>
          </a:xfrm>
          <a:custGeom>
            <a:avLst/>
            <a:gdLst/>
            <a:ahLst/>
            <a:cxnLst/>
            <a:rect l="l" t="t" r="r" b="b"/>
            <a:pathLst>
              <a:path w="1061" h="31989" extrusionOk="0">
                <a:moveTo>
                  <a:pt x="0" y="0"/>
                </a:moveTo>
                <a:lnTo>
                  <a:pt x="0" y="31989"/>
                </a:lnTo>
                <a:lnTo>
                  <a:pt x="1060" y="31989"/>
                </a:lnTo>
                <a:lnTo>
                  <a:pt x="1060" y="0"/>
                </a:lnTo>
                <a:close/>
              </a:path>
            </a:pathLst>
          </a:custGeom>
          <a:solidFill>
            <a:srgbClr val="6F0A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Raleway"/>
              <a:ea typeface="Raleway"/>
              <a:cs typeface="Raleway"/>
              <a:sym typeface="Raleway"/>
            </a:endParaRPr>
          </a:p>
        </p:txBody>
      </p:sp>
      <p:sp>
        <p:nvSpPr>
          <p:cNvPr id="55" name="Google Shape;55;p5"/>
          <p:cNvSpPr/>
          <p:nvPr/>
        </p:nvSpPr>
        <p:spPr>
          <a:xfrm>
            <a:off x="5233600" y="3875277"/>
            <a:ext cx="26525" cy="841231"/>
          </a:xfrm>
          <a:custGeom>
            <a:avLst/>
            <a:gdLst/>
            <a:ahLst/>
            <a:cxnLst/>
            <a:rect l="l" t="t" r="r" b="b"/>
            <a:pathLst>
              <a:path w="1061" h="31989" extrusionOk="0">
                <a:moveTo>
                  <a:pt x="0" y="0"/>
                </a:moveTo>
                <a:lnTo>
                  <a:pt x="0" y="31989"/>
                </a:lnTo>
                <a:lnTo>
                  <a:pt x="1060" y="31989"/>
                </a:lnTo>
                <a:lnTo>
                  <a:pt x="1060" y="0"/>
                </a:lnTo>
                <a:close/>
              </a:path>
            </a:pathLst>
          </a:custGeom>
          <a:solidFill>
            <a:srgbClr val="0067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Raleway"/>
              <a:ea typeface="Raleway"/>
              <a:cs typeface="Raleway"/>
              <a:sym typeface="Raleway"/>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0000"/>
              </a:buClr>
              <a:buSzPts val="2800"/>
              <a:buFont typeface="Catamaran"/>
              <a:buNone/>
              <a:defRPr sz="2800" b="1" i="0" u="none" strike="noStrike" cap="none">
                <a:solidFill>
                  <a:srgbClr val="000000"/>
                </a:solidFill>
                <a:latin typeface="Catamaran"/>
                <a:ea typeface="Catamaran"/>
                <a:cs typeface="Catamaran"/>
                <a:sym typeface="Catamaran"/>
              </a:defRPr>
            </a:lvl1pPr>
            <a:lvl2pPr marR="0" lvl="1"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a:lnSpc>
                <a:spcPct val="115000"/>
              </a:lnSpc>
              <a:spcBef>
                <a:spcPts val="0"/>
              </a:spcBef>
              <a:spcAft>
                <a:spcPts val="0"/>
              </a:spcAft>
              <a:buClr>
                <a:schemeClr val="accent1"/>
              </a:buClr>
              <a:buSzPts val="1300"/>
              <a:buFont typeface="Catamaran"/>
              <a:buChar char="●"/>
              <a:defRPr sz="1300" b="0" i="0" u="none" strike="noStrike" cap="none">
                <a:solidFill>
                  <a:schemeClr val="accent1"/>
                </a:solidFill>
                <a:latin typeface="Catamaran"/>
                <a:ea typeface="Catamaran"/>
                <a:cs typeface="Catamaran"/>
                <a:sym typeface="Catamaran"/>
              </a:defRPr>
            </a:lvl1pPr>
            <a:lvl2pPr marL="914400" marR="0" lvl="1" indent="-298450" algn="l">
              <a:lnSpc>
                <a:spcPct val="115000"/>
              </a:lnSpc>
              <a:spcBef>
                <a:spcPts val="1600"/>
              </a:spcBef>
              <a:spcAft>
                <a:spcPts val="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2pPr>
            <a:lvl3pPr marL="1371600" marR="0" lvl="2" indent="-298450" algn="l">
              <a:lnSpc>
                <a:spcPct val="115000"/>
              </a:lnSpc>
              <a:spcBef>
                <a:spcPts val="1600"/>
              </a:spcBef>
              <a:spcAft>
                <a:spcPts val="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3pPr>
            <a:lvl4pPr marL="1828800" marR="0" lvl="3" indent="-298450" algn="l">
              <a:lnSpc>
                <a:spcPct val="115000"/>
              </a:lnSpc>
              <a:spcBef>
                <a:spcPts val="1600"/>
              </a:spcBef>
              <a:spcAft>
                <a:spcPts val="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4pPr>
            <a:lvl5pPr marL="2286000" marR="0" lvl="4" indent="-298450" algn="l">
              <a:lnSpc>
                <a:spcPct val="115000"/>
              </a:lnSpc>
              <a:spcBef>
                <a:spcPts val="1600"/>
              </a:spcBef>
              <a:spcAft>
                <a:spcPts val="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5pPr>
            <a:lvl6pPr marL="2743200" marR="0" lvl="5" indent="-298450" algn="l">
              <a:lnSpc>
                <a:spcPct val="115000"/>
              </a:lnSpc>
              <a:spcBef>
                <a:spcPts val="1600"/>
              </a:spcBef>
              <a:spcAft>
                <a:spcPts val="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6pPr>
            <a:lvl7pPr marL="3200400" marR="0" lvl="6" indent="-298450" algn="l">
              <a:lnSpc>
                <a:spcPct val="115000"/>
              </a:lnSpc>
              <a:spcBef>
                <a:spcPts val="1600"/>
              </a:spcBef>
              <a:spcAft>
                <a:spcPts val="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7pPr>
            <a:lvl8pPr marL="3657600" marR="0" lvl="7" indent="-298450" algn="l">
              <a:lnSpc>
                <a:spcPct val="115000"/>
              </a:lnSpc>
              <a:spcBef>
                <a:spcPts val="1600"/>
              </a:spcBef>
              <a:spcAft>
                <a:spcPts val="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8pPr>
            <a:lvl9pPr marL="4114800" marR="0" lvl="8" indent="-298450" algn="l">
              <a:lnSpc>
                <a:spcPct val="115000"/>
              </a:lnSpc>
              <a:spcBef>
                <a:spcPts val="1600"/>
              </a:spcBef>
              <a:spcAft>
                <a:spcPts val="1600"/>
              </a:spcAft>
              <a:buClr>
                <a:schemeClr val="accent1"/>
              </a:buClr>
              <a:buSzPts val="1100"/>
              <a:buFont typeface="Catamaran"/>
              <a:buChar char="■"/>
              <a:defRPr sz="1100" b="0" i="0" u="none" strike="noStrike" cap="none">
                <a:solidFill>
                  <a:schemeClr val="accent1"/>
                </a:solidFill>
                <a:latin typeface="Catamaran"/>
                <a:ea typeface="Catamaran"/>
                <a:cs typeface="Catamaran"/>
                <a:sym typeface="Catamaran"/>
              </a:defRPr>
            </a:lvl9pPr>
          </a:lstStyle>
          <a:p/>
        </p:txBody>
      </p:sp>
      <p:sp>
        <p:nvSpPr>
          <p:cNvPr id="8" name="Google Shape;8;p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Catamaran"/>
                <a:ea typeface="Catamaran"/>
                <a:cs typeface="Catamaran"/>
                <a:sym typeface="Catamaran"/>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hyperlink" Target="http://drive.google.com/file/d/1w82TSGJklwMlatLVFV84No7W9204snEA/view" TargetMode="Externa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hyperlink" Target="http://drive.google.com/file/d/1RfSkQHmGhp1iKutx68K-kRE4D7ZhUF1X/view"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hyperlink" Target="http://drive.google.com/file/d/1fDo3spk_XVwLSS-Cabx-8qbTM_wicEfi/view"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6"/>
          <p:cNvSpPr txBox="1"/>
          <p:nvPr>
            <p:ph type="ctrTitle"/>
          </p:nvPr>
        </p:nvSpPr>
        <p:spPr>
          <a:xfrm>
            <a:off x="729625" y="676413"/>
            <a:ext cx="7688100" cy="166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Vision-Based Autonomous Quadrotor Landing on a Moving Platform</a:t>
            </a:r>
            <a:endParaRPr lang="en-US"/>
          </a:p>
        </p:txBody>
      </p:sp>
      <p:sp>
        <p:nvSpPr>
          <p:cNvPr id="61" name="Google Shape;61;p6"/>
          <p:cNvSpPr txBox="1"/>
          <p:nvPr>
            <p:ph type="subTitle" idx="1"/>
          </p:nvPr>
        </p:nvSpPr>
        <p:spPr>
          <a:xfrm>
            <a:off x="729625" y="3899500"/>
            <a:ext cx="7688100" cy="97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Barbieri Lorenzo (2144036)</a:t>
            </a:r>
            <a:endParaRPr lang="en-US"/>
          </a:p>
          <a:p>
            <a:pPr marL="0" lvl="0" indent="0" algn="l" rtl="0">
              <a:spcBef>
                <a:spcPts val="0"/>
              </a:spcBef>
              <a:spcAft>
                <a:spcPts val="0"/>
              </a:spcAft>
              <a:buNone/>
            </a:pPr>
            <a:r>
              <a:rPr lang="en-US"/>
              <a:t>Carotenuto Alessandro </a:t>
            </a:r>
            <a:r>
              <a:rPr lang="en-US"/>
              <a:t>(1847282</a:t>
            </a:r>
            <a:r>
              <a:rPr lang="en-US"/>
              <a:t>)</a:t>
            </a:r>
            <a:endParaRPr lang="en-US"/>
          </a:p>
          <a:p>
            <a:pPr marL="0" lvl="0" indent="0" algn="l" rtl="0">
              <a:spcBef>
                <a:spcPts val="0"/>
              </a:spcBef>
              <a:spcAft>
                <a:spcPts val="0"/>
              </a:spcAft>
              <a:buNone/>
            </a:pPr>
            <a:r>
              <a:rPr lang="en-US"/>
              <a:t>Sandri Leonardo (2137374)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5" name="Shape 65"/>
        <p:cNvGrpSpPr/>
        <p:nvPr/>
      </p:nvGrpSpPr>
      <p:grpSpPr>
        <a:xfrm>
          <a:off x="0" y="0"/>
          <a:ext cx="0" cy="0"/>
          <a:chOff x="0" y="0"/>
          <a:chExt cx="0" cy="0"/>
        </a:xfrm>
      </p:grpSpPr>
      <p:sp>
        <p:nvSpPr>
          <p:cNvPr id="66" name="Google Shape;66;p7"/>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Introduction</a:t>
            </a:r>
            <a:endParaRPr lang="en-US"/>
          </a:p>
        </p:txBody>
      </p:sp>
      <p:sp>
        <p:nvSpPr>
          <p:cNvPr id="67" name="Google Shape;67;p7"/>
          <p:cNvSpPr txBox="1"/>
          <p:nvPr>
            <p:ph type="body" idx="1"/>
          </p:nvPr>
        </p:nvSpPr>
        <p:spPr>
          <a:xfrm>
            <a:off x="3649350" y="1622025"/>
            <a:ext cx="47670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00000"/>
                </a:solidFill>
              </a:rPr>
              <a:t>Reference work</a:t>
            </a:r>
            <a:r>
              <a:rPr lang="en-US">
                <a:solidFill>
                  <a:srgbClr val="000000"/>
                </a:solidFill>
              </a:rPr>
              <a:t>: </a:t>
            </a:r>
            <a:endParaRPr>
              <a:solidFill>
                <a:srgbClr val="000000"/>
              </a:solidFill>
            </a:endParaRPr>
          </a:p>
          <a:p>
            <a:pPr marL="0" lvl="0" indent="0" algn="l" rtl="0">
              <a:spcBef>
                <a:spcPts val="0"/>
              </a:spcBef>
              <a:spcAft>
                <a:spcPts val="0"/>
              </a:spcAft>
              <a:buNone/>
            </a:pPr>
            <a:r>
              <a:rPr lang="en-US">
                <a:solidFill>
                  <a:srgbClr val="000000"/>
                </a:solidFill>
              </a:rPr>
              <a:t>(Falanga et al.) “Vision-based Autonomous Quadrotor Landing on a Moving Platform”</a:t>
            </a:r>
            <a:endParaRPr>
              <a:solidFill>
                <a:srgbClr val="000000"/>
              </a:solidFill>
            </a:endParaRPr>
          </a:p>
          <a:p>
            <a:pPr marL="0" lvl="0" indent="0" algn="l" rtl="0">
              <a:spcBef>
                <a:spcPts val="0"/>
              </a:spcBef>
              <a:spcAft>
                <a:spcPts val="0"/>
              </a:spcAft>
              <a:buNone/>
            </a:pPr>
            <a:endParaRPr>
              <a:solidFill>
                <a:srgbClr val="000000"/>
              </a:solidFill>
            </a:endParaRPr>
          </a:p>
          <a:p>
            <a:pPr marL="0" lvl="0" indent="0" algn="l" rtl="0">
              <a:spcBef>
                <a:spcPts val="0"/>
              </a:spcBef>
              <a:spcAft>
                <a:spcPts val="0"/>
              </a:spcAft>
              <a:buNone/>
            </a:pPr>
            <a:r>
              <a:rPr lang="en-US">
                <a:solidFill>
                  <a:srgbClr val="000000"/>
                </a:solidFill>
              </a:rPr>
              <a:t>With the aim to </a:t>
            </a:r>
            <a:r>
              <a:rPr lang="en-US" b="1">
                <a:solidFill>
                  <a:srgbClr val="000000"/>
                </a:solidFill>
              </a:rPr>
              <a:t>extend mission duration</a:t>
            </a:r>
            <a:r>
              <a:rPr lang="en-US">
                <a:solidFill>
                  <a:srgbClr val="000000"/>
                </a:solidFill>
              </a:rPr>
              <a:t> for aerial vehicles, explored approach is to craft an efficient autonomous </a:t>
            </a:r>
            <a:r>
              <a:rPr lang="en-US">
                <a:solidFill>
                  <a:srgbClr val="000000"/>
                </a:solidFill>
              </a:rPr>
              <a:t>system to enable </a:t>
            </a:r>
            <a:r>
              <a:rPr lang="en-US">
                <a:solidFill>
                  <a:srgbClr val="000000"/>
                </a:solidFill>
              </a:rPr>
              <a:t>landing on a moving platform, based on vision detection.</a:t>
            </a:r>
            <a:br>
              <a:rPr lang="en-US">
                <a:solidFill>
                  <a:srgbClr val="000000"/>
                </a:solidFill>
              </a:rPr>
            </a:br>
            <a:r>
              <a:rPr lang="en-US">
                <a:solidFill>
                  <a:srgbClr val="000000"/>
                </a:solidFill>
              </a:rPr>
              <a:t>This enables </a:t>
            </a:r>
            <a:r>
              <a:rPr lang="en-US" b="1">
                <a:solidFill>
                  <a:srgbClr val="000000"/>
                </a:solidFill>
              </a:rPr>
              <a:t>battery swapping</a:t>
            </a:r>
            <a:r>
              <a:rPr lang="en-US">
                <a:solidFill>
                  <a:srgbClr val="000000"/>
                </a:solidFill>
              </a:rPr>
              <a:t> on platforms that are considered charging stations.</a:t>
            </a:r>
            <a:endParaRPr>
              <a:solidFill>
                <a:srgbClr val="000000"/>
              </a:solidFill>
            </a:endParaRPr>
          </a:p>
        </p:txBody>
      </p:sp>
      <p:sp>
        <p:nvSpPr>
          <p:cNvPr id="68" name="Google Shape;68;p7"/>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pic>
        <p:nvPicPr>
          <p:cNvPr id="69" name="Google Shape;69;p7"/>
          <p:cNvPicPr preferRelativeResize="0"/>
          <p:nvPr/>
        </p:nvPicPr>
        <p:blipFill>
          <a:blip r:embed="rId1"/>
          <a:stretch>
            <a:fillRect/>
          </a:stretch>
        </p:blipFill>
        <p:spPr>
          <a:xfrm>
            <a:off x="727650" y="1813900"/>
            <a:ext cx="2740050" cy="1877349"/>
          </a:xfrm>
          <a:prstGeom prst="rect">
            <a:avLst/>
          </a:prstGeom>
          <a:noFill/>
          <a:ln>
            <a:noFill/>
          </a:ln>
        </p:spPr>
      </p:pic>
      <p:sp>
        <p:nvSpPr>
          <p:cNvPr id="70" name="Google Shape;70;p7"/>
          <p:cNvSpPr/>
          <p:nvPr/>
        </p:nvSpPr>
        <p:spPr>
          <a:xfrm>
            <a:off x="745275" y="1813900"/>
            <a:ext cx="2739900" cy="1877400"/>
          </a:xfrm>
          <a:prstGeom prst="rect">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75" name="Google Shape;75;p8"/>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Introduction</a:t>
            </a:r>
            <a:endParaRPr lang="en-US"/>
          </a:p>
        </p:txBody>
      </p:sp>
      <p:sp>
        <p:nvSpPr>
          <p:cNvPr id="76" name="Google Shape;76;p8"/>
          <p:cNvSpPr txBox="1"/>
          <p:nvPr>
            <p:ph type="body" idx="1"/>
          </p:nvPr>
        </p:nvSpPr>
        <p:spPr>
          <a:xfrm>
            <a:off x="823350" y="1622025"/>
            <a:ext cx="7593000" cy="62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00000"/>
                </a:solidFill>
              </a:rPr>
              <a:t>Workflow structure:</a:t>
            </a:r>
            <a:endParaRPr>
              <a:solidFill>
                <a:srgbClr val="000000"/>
              </a:solidFill>
            </a:endParaRPr>
          </a:p>
          <a:p>
            <a:pPr marL="0" lvl="0" indent="0" algn="l" rtl="0">
              <a:spcBef>
                <a:spcPts val="0"/>
              </a:spcBef>
              <a:spcAft>
                <a:spcPts val="0"/>
              </a:spcAft>
              <a:buNone/>
            </a:pPr>
            <a:r>
              <a:rPr lang="en-US">
                <a:solidFill>
                  <a:srgbClr val="000000"/>
                </a:solidFill>
              </a:rPr>
              <a:t>Two-phases approach:</a:t>
            </a:r>
            <a:endParaRPr>
              <a:solidFill>
                <a:srgbClr val="000000"/>
              </a:solidFill>
            </a:endParaRPr>
          </a:p>
        </p:txBody>
      </p:sp>
      <p:sp>
        <p:nvSpPr>
          <p:cNvPr id="77" name="Google Shape;77;p8"/>
          <p:cNvSpPr txBox="1"/>
          <p:nvPr>
            <p:ph type="subTitle" idx="2"/>
          </p:nvPr>
        </p:nvSpPr>
        <p:spPr>
          <a:xfrm>
            <a:off x="1392175" y="4749725"/>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8" name="Google Shape;78;p8"/>
          <p:cNvSpPr/>
          <p:nvPr/>
        </p:nvSpPr>
        <p:spPr>
          <a:xfrm>
            <a:off x="823350" y="2468350"/>
            <a:ext cx="1897200" cy="684600"/>
          </a:xfrm>
          <a:prstGeom prst="roundRect">
            <a:avLst>
              <a:gd name="adj" fmla="val 16667"/>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79" name="Google Shape;79;p8"/>
          <p:cNvSpPr/>
          <p:nvPr/>
        </p:nvSpPr>
        <p:spPr>
          <a:xfrm>
            <a:off x="3848325" y="2468350"/>
            <a:ext cx="1897200" cy="684600"/>
          </a:xfrm>
          <a:prstGeom prst="roundRect">
            <a:avLst>
              <a:gd name="adj" fmla="val 16667"/>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80" name="Google Shape;80;p8"/>
          <p:cNvSpPr txBox="1"/>
          <p:nvPr>
            <p:ph type="body" idx="1"/>
          </p:nvPr>
        </p:nvSpPr>
        <p:spPr>
          <a:xfrm>
            <a:off x="875250" y="2499988"/>
            <a:ext cx="1793400" cy="62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00000"/>
                </a:solidFill>
              </a:rPr>
              <a:t>Known platform trajectories</a:t>
            </a:r>
            <a:endParaRPr b="1">
              <a:solidFill>
                <a:srgbClr val="000000"/>
              </a:solidFill>
            </a:endParaRPr>
          </a:p>
        </p:txBody>
      </p:sp>
      <p:sp>
        <p:nvSpPr>
          <p:cNvPr id="81" name="Google Shape;81;p8"/>
          <p:cNvSpPr txBox="1"/>
          <p:nvPr>
            <p:ph type="body" idx="1"/>
          </p:nvPr>
        </p:nvSpPr>
        <p:spPr>
          <a:xfrm>
            <a:off x="3900225" y="2499988"/>
            <a:ext cx="1793400" cy="62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00000"/>
                </a:solidFill>
              </a:rPr>
              <a:t>Unk</a:t>
            </a:r>
            <a:r>
              <a:rPr lang="en-US" b="1">
                <a:solidFill>
                  <a:srgbClr val="000000"/>
                </a:solidFill>
              </a:rPr>
              <a:t>nown platform trajectories</a:t>
            </a:r>
            <a:endParaRPr b="1">
              <a:solidFill>
                <a:srgbClr val="000000"/>
              </a:solidFill>
            </a:endParaRPr>
          </a:p>
        </p:txBody>
      </p:sp>
      <p:sp>
        <p:nvSpPr>
          <p:cNvPr id="82" name="Google Shape;82;p8"/>
          <p:cNvSpPr/>
          <p:nvPr/>
        </p:nvSpPr>
        <p:spPr>
          <a:xfrm>
            <a:off x="2952638" y="2688400"/>
            <a:ext cx="715500" cy="244500"/>
          </a:xfrm>
          <a:prstGeom prst="rightArrow">
            <a:avLst>
              <a:gd name="adj1" fmla="val 50000"/>
              <a:gd name="adj2" fmla="val 50000"/>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83" name="Google Shape;83;p8"/>
          <p:cNvSpPr txBox="1"/>
          <p:nvPr>
            <p:ph type="body" idx="1"/>
          </p:nvPr>
        </p:nvSpPr>
        <p:spPr>
          <a:xfrm>
            <a:off x="775500" y="3377975"/>
            <a:ext cx="7593000" cy="83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0000"/>
                </a:solidFill>
              </a:rPr>
              <a:t>First, we worked on a simplified version with known platform trajectories to </a:t>
            </a:r>
            <a:r>
              <a:rPr lang="en-US" b="1">
                <a:solidFill>
                  <a:srgbClr val="000000"/>
                </a:solidFill>
              </a:rPr>
              <a:t>test the core control and planning components</a:t>
            </a:r>
            <a:r>
              <a:rPr lang="en-US">
                <a:solidFill>
                  <a:srgbClr val="000000"/>
                </a:solidFill>
              </a:rPr>
              <a:t>; second, we implemented the complete system with unknown trajectories incorporating </a:t>
            </a:r>
            <a:r>
              <a:rPr lang="en-US" b="1">
                <a:solidFill>
                  <a:srgbClr val="000000"/>
                </a:solidFill>
              </a:rPr>
              <a:t>vision-based detection and Kalman filtering</a:t>
            </a:r>
            <a:r>
              <a:rPr lang="en-US">
                <a:solidFill>
                  <a:srgbClr val="000000"/>
                </a:solidFill>
              </a:rPr>
              <a:t> for platform state estimation.</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9"/>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Implementation</a:t>
            </a:r>
            <a:endParaRPr lang="en-US"/>
          </a:p>
        </p:txBody>
      </p:sp>
      <p:sp>
        <p:nvSpPr>
          <p:cNvPr id="89" name="Google Shape;89;p9"/>
          <p:cNvSpPr txBox="1"/>
          <p:nvPr>
            <p:ph type="body" idx="1"/>
          </p:nvPr>
        </p:nvSpPr>
        <p:spPr>
          <a:xfrm>
            <a:off x="727650" y="3776050"/>
            <a:ext cx="7688700" cy="82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0000"/>
                </a:solidFill>
              </a:rPr>
              <a:t>We organized our work focusing on building a </a:t>
            </a:r>
            <a:r>
              <a:rPr lang="en-US" b="1">
                <a:solidFill>
                  <a:srgbClr val="000000"/>
                </a:solidFill>
              </a:rPr>
              <a:t>modular architecture</a:t>
            </a:r>
            <a:r>
              <a:rPr lang="en-US">
                <a:solidFill>
                  <a:srgbClr val="000000"/>
                </a:solidFill>
              </a:rPr>
              <a:t>, through our </a:t>
            </a:r>
            <a:r>
              <a:rPr lang="en-US" b="1">
                <a:solidFill>
                  <a:srgbClr val="000000"/>
                </a:solidFill>
              </a:rPr>
              <a:t>two-phases</a:t>
            </a:r>
            <a:r>
              <a:rPr lang="en-US">
                <a:solidFill>
                  <a:srgbClr val="000000"/>
                </a:solidFill>
              </a:rPr>
              <a:t> implementation approach, optimizing the workflow with </a:t>
            </a:r>
            <a:r>
              <a:rPr lang="en-US" b="1">
                <a:solidFill>
                  <a:srgbClr val="000000"/>
                </a:solidFill>
              </a:rPr>
              <a:t>practical design insights</a:t>
            </a:r>
            <a:r>
              <a:rPr lang="en-US">
                <a:solidFill>
                  <a:srgbClr val="000000"/>
                </a:solidFill>
              </a:rPr>
              <a:t> that worked well in practice despite diverging from the paper.</a:t>
            </a:r>
            <a:endParaRPr>
              <a:solidFill>
                <a:srgbClr val="000000"/>
              </a:solidFill>
            </a:endParaRPr>
          </a:p>
          <a:p>
            <a:pPr marL="0" lvl="0" indent="0" algn="l" rtl="0">
              <a:spcBef>
                <a:spcPts val="0"/>
              </a:spcBef>
              <a:spcAft>
                <a:spcPts val="0"/>
              </a:spcAft>
              <a:buNone/>
            </a:pPr>
            <a:endParaRPr>
              <a:solidFill>
                <a:srgbClr val="000000"/>
              </a:solidFill>
            </a:endParaRPr>
          </a:p>
          <a:p>
            <a:pPr marL="0" lvl="0" indent="0" algn="l" rtl="0">
              <a:spcBef>
                <a:spcPts val="0"/>
              </a:spcBef>
              <a:spcAft>
                <a:spcPts val="0"/>
              </a:spcAft>
              <a:buNone/>
            </a:pPr>
            <a:endParaRPr>
              <a:solidFill>
                <a:srgbClr val="000000"/>
              </a:solidFill>
            </a:endParaRPr>
          </a:p>
        </p:txBody>
      </p:sp>
      <p:sp>
        <p:nvSpPr>
          <p:cNvPr id="90" name="Google Shape;90;p9"/>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pic>
        <p:nvPicPr>
          <p:cNvPr id="91" name="Google Shape;91;p9"/>
          <p:cNvPicPr preferRelativeResize="0"/>
          <p:nvPr/>
        </p:nvPicPr>
        <p:blipFill rotWithShape="1">
          <a:blip r:embed="rId1"/>
          <a:srcRect t="5553"/>
          <a:stretch>
            <a:fillRect/>
          </a:stretch>
        </p:blipFill>
        <p:spPr>
          <a:xfrm>
            <a:off x="934864" y="1773350"/>
            <a:ext cx="6531922" cy="2002700"/>
          </a:xfrm>
          <a:prstGeom prst="rect">
            <a:avLst/>
          </a:prstGeom>
          <a:noFill/>
          <a:ln>
            <a:noFill/>
          </a:ln>
        </p:spPr>
      </p:pic>
      <p:sp>
        <p:nvSpPr>
          <p:cNvPr id="92" name="Google Shape;92;p9"/>
          <p:cNvSpPr txBox="1"/>
          <p:nvPr>
            <p:ph type="body" idx="1"/>
          </p:nvPr>
        </p:nvSpPr>
        <p:spPr>
          <a:xfrm>
            <a:off x="727650" y="1417613"/>
            <a:ext cx="76887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0000"/>
                </a:solidFill>
              </a:rPr>
              <a:t>General final (unknown trajectories) </a:t>
            </a:r>
            <a:r>
              <a:rPr lang="en-US" b="1">
                <a:solidFill>
                  <a:srgbClr val="000000"/>
                </a:solidFill>
              </a:rPr>
              <a:t>pipeline </a:t>
            </a:r>
            <a:r>
              <a:rPr lang="en-US">
                <a:solidFill>
                  <a:srgbClr val="000000"/>
                </a:solidFill>
              </a:rPr>
              <a:t>and </a:t>
            </a:r>
            <a:r>
              <a:rPr lang="en-US" b="1">
                <a:solidFill>
                  <a:srgbClr val="000000"/>
                </a:solidFill>
              </a:rPr>
              <a:t>data flow</a:t>
            </a:r>
            <a:r>
              <a:rPr lang="en-US">
                <a:solidFill>
                  <a:srgbClr val="000000"/>
                </a:solidFill>
              </a:rPr>
              <a:t>:</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6" name="Shape 96"/>
        <p:cNvGrpSpPr/>
        <p:nvPr/>
      </p:nvGrpSpPr>
      <p:grpSpPr>
        <a:xfrm>
          <a:off x="0" y="0"/>
          <a:ext cx="0" cy="0"/>
          <a:chOff x="0" y="0"/>
          <a:chExt cx="0" cy="0"/>
        </a:xfrm>
      </p:grpSpPr>
      <p:sp>
        <p:nvSpPr>
          <p:cNvPr id="97" name="Google Shape;97;p10"/>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State Machine Logic </a:t>
            </a:r>
            <a:endParaRPr lang="en-US"/>
          </a:p>
        </p:txBody>
      </p:sp>
      <p:sp>
        <p:nvSpPr>
          <p:cNvPr id="98" name="Google Shape;98;p10"/>
          <p:cNvSpPr txBox="1"/>
          <p:nvPr>
            <p:ph type="body" idx="1"/>
          </p:nvPr>
        </p:nvSpPr>
        <p:spPr>
          <a:xfrm>
            <a:off x="727650" y="162202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2"/>
                </a:solidFill>
              </a:rPr>
              <a:t>The State Machine is the coordinator of the whole simulation.</a:t>
            </a:r>
            <a:endParaRPr sz="1400">
              <a:solidFill>
                <a:schemeClr val="dk2"/>
              </a:solidFill>
            </a:endParaRPr>
          </a:p>
          <a:p>
            <a:pPr marL="0" lvl="0" indent="0" algn="l" rtl="0">
              <a:spcBef>
                <a:spcPts val="0"/>
              </a:spcBef>
              <a:spcAft>
                <a:spcPts val="0"/>
              </a:spcAft>
              <a:buNone/>
            </a:pPr>
            <a:r>
              <a:rPr lang="en-US" sz="1400">
                <a:solidFill>
                  <a:schemeClr val="dk2"/>
                </a:solidFill>
              </a:rPr>
              <a:t>It </a:t>
            </a:r>
            <a:r>
              <a:rPr lang="en-US" sz="1400" b="1">
                <a:solidFill>
                  <a:schemeClr val="dk2"/>
                </a:solidFill>
              </a:rPr>
              <a:t>outputs the reference trajectory</a:t>
            </a:r>
            <a:r>
              <a:rPr lang="en-US" sz="1400">
                <a:solidFill>
                  <a:schemeClr val="dk2"/>
                </a:solidFill>
              </a:rPr>
              <a:t> for the quadrotor </a:t>
            </a:r>
            <a:endParaRPr sz="1400">
              <a:solidFill>
                <a:schemeClr val="dk2"/>
              </a:solidFill>
            </a:endParaRPr>
          </a:p>
          <a:p>
            <a:pPr marL="0" lvl="0" indent="0" algn="l" rtl="0">
              <a:spcBef>
                <a:spcPts val="0"/>
              </a:spcBef>
              <a:spcAft>
                <a:spcPts val="0"/>
              </a:spcAft>
              <a:buNone/>
            </a:pPr>
            <a:r>
              <a:rPr lang="en-US" sz="1400">
                <a:solidFill>
                  <a:schemeClr val="dk2"/>
                </a:solidFill>
              </a:rPr>
              <a:t>controller based on the current flying phase.</a:t>
            </a:r>
            <a:endParaRPr sz="1400">
              <a:solidFill>
                <a:schemeClr val="dk2"/>
              </a:solidFill>
            </a:endParaRPr>
          </a:p>
          <a:p>
            <a:pPr marL="0" lvl="0" indent="0" algn="l" rtl="0">
              <a:spcBef>
                <a:spcPts val="0"/>
              </a:spcBef>
              <a:spcAft>
                <a:spcPts val="0"/>
              </a:spcAft>
              <a:buNone/>
            </a:pPr>
            <a:endParaRPr>
              <a:solidFill>
                <a:schemeClr val="dk2"/>
              </a:solidFill>
            </a:endParaRPr>
          </a:p>
          <a:p>
            <a:pPr marL="0" lvl="0" indent="0" algn="l" rtl="0">
              <a:spcBef>
                <a:spcPts val="0"/>
              </a:spcBef>
              <a:spcAft>
                <a:spcPts val="0"/>
              </a:spcAft>
              <a:buNone/>
            </a:pPr>
            <a:r>
              <a:rPr lang="en-US" sz="1400">
                <a:solidFill>
                  <a:schemeClr val="dk2"/>
                </a:solidFill>
              </a:rPr>
              <a:t>Flight states:</a:t>
            </a:r>
            <a:endParaRPr sz="1400">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TAKEOFF-HOVERING</a:t>
            </a:r>
            <a:endParaRPr sz="1400" b="1">
              <a:solidFill>
                <a:schemeClr val="dk2"/>
              </a:solidFill>
            </a:endParaRPr>
          </a:p>
          <a:p>
            <a:pPr marL="457200" lvl="0" indent="0" algn="l" rtl="0">
              <a:spcBef>
                <a:spcPts val="0"/>
              </a:spcBef>
              <a:spcAft>
                <a:spcPts val="0"/>
              </a:spcAft>
              <a:buNone/>
            </a:pPr>
            <a:r>
              <a:rPr lang="en-US">
                <a:solidFill>
                  <a:schemeClr val="dk2"/>
                </a:solidFill>
              </a:rPr>
              <a:t>Vertical Ascension with constant velocity and hovering until platform detection</a:t>
            </a:r>
            <a:endParaRPr>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SEARCH</a:t>
            </a:r>
            <a:endParaRPr sz="1400" b="1">
              <a:solidFill>
                <a:schemeClr val="dk2"/>
              </a:solidFill>
            </a:endParaRPr>
          </a:p>
          <a:p>
            <a:pPr marL="457200" lvl="0" indent="0" algn="l" rtl="0">
              <a:spcBef>
                <a:spcPts val="0"/>
              </a:spcBef>
              <a:spcAft>
                <a:spcPts val="0"/>
              </a:spcAft>
              <a:buNone/>
            </a:pPr>
            <a:r>
              <a:rPr lang="en-US">
                <a:solidFill>
                  <a:schemeClr val="dk2"/>
                </a:solidFill>
              </a:rPr>
              <a:t>If detection failed the quadrotor starts moving around to find it</a:t>
            </a:r>
            <a:endParaRPr>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TRACKING</a:t>
            </a:r>
            <a:endParaRPr sz="1400" b="1">
              <a:solidFill>
                <a:schemeClr val="dk2"/>
              </a:solidFill>
            </a:endParaRPr>
          </a:p>
          <a:p>
            <a:pPr marL="457200" lvl="0" indent="0" algn="l" rtl="0">
              <a:spcBef>
                <a:spcPts val="0"/>
              </a:spcBef>
              <a:spcAft>
                <a:spcPts val="0"/>
              </a:spcAft>
              <a:buNone/>
            </a:pPr>
            <a:r>
              <a:rPr lang="en-US">
                <a:solidFill>
                  <a:schemeClr val="dk2"/>
                </a:solidFill>
              </a:rPr>
              <a:t>Once the platform is detected the drone starts following it from above</a:t>
            </a:r>
            <a:endParaRPr>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LANDING</a:t>
            </a:r>
            <a:endParaRPr sz="1400" b="1">
              <a:solidFill>
                <a:schemeClr val="dk2"/>
              </a:solidFill>
            </a:endParaRPr>
          </a:p>
          <a:p>
            <a:pPr marL="457200" lvl="0" indent="0" algn="l" rtl="0">
              <a:spcBef>
                <a:spcPts val="0"/>
              </a:spcBef>
              <a:spcAft>
                <a:spcPts val="0"/>
              </a:spcAft>
              <a:buNone/>
            </a:pPr>
            <a:r>
              <a:rPr lang="en-US">
                <a:solidFill>
                  <a:schemeClr val="dk2"/>
                </a:solidFill>
              </a:rPr>
              <a:t>After tracking error converges the quadrotor gently lands on the platform</a:t>
            </a:r>
            <a:endParaRPr>
              <a:solidFill>
                <a:schemeClr val="dk2"/>
              </a:solidFill>
            </a:endParaRPr>
          </a:p>
        </p:txBody>
      </p:sp>
      <p:pic>
        <p:nvPicPr>
          <p:cNvPr id="99" name="Google Shape;99;p10"/>
          <p:cNvPicPr preferRelativeResize="0"/>
          <p:nvPr/>
        </p:nvPicPr>
        <p:blipFill>
          <a:blip r:embed="rId1"/>
          <a:stretch>
            <a:fillRect/>
          </a:stretch>
        </p:blipFill>
        <p:spPr>
          <a:xfrm>
            <a:off x="5486661" y="1397000"/>
            <a:ext cx="3286425" cy="1373250"/>
          </a:xfrm>
          <a:prstGeom prst="rect">
            <a:avLst/>
          </a:prstGeom>
          <a:noFill/>
          <a:ln w="19050" cap="flat" cmpd="sng">
            <a:solidFill>
              <a:srgbClr val="6F0A19"/>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11"/>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Control Scheme </a:t>
            </a:r>
            <a:endParaRPr lang="en-US"/>
          </a:p>
        </p:txBody>
      </p:sp>
      <p:sp>
        <p:nvSpPr>
          <p:cNvPr id="105" name="Google Shape;105;p11"/>
          <p:cNvSpPr txBox="1"/>
          <p:nvPr>
            <p:ph type="body" idx="1"/>
          </p:nvPr>
        </p:nvSpPr>
        <p:spPr>
          <a:xfrm>
            <a:off x="806725" y="1480457"/>
            <a:ext cx="7688700" cy="2261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b="1">
                <a:solidFill>
                  <a:schemeClr val="dk2"/>
                </a:solidFill>
              </a:rPr>
              <a:t>Cascade hierarchical control system: </a:t>
            </a:r>
            <a:endParaRPr b="1">
              <a:solidFill>
                <a:schemeClr val="dk2"/>
              </a:solidFill>
            </a:endParaRPr>
          </a:p>
          <a:p>
            <a:pPr marL="0" lvl="0" indent="0" algn="l" rtl="0">
              <a:lnSpc>
                <a:spcPct val="150000"/>
              </a:lnSpc>
              <a:spcBef>
                <a:spcPts val="0"/>
              </a:spcBef>
              <a:spcAft>
                <a:spcPts val="0"/>
              </a:spcAft>
              <a:buNone/>
            </a:pPr>
            <a:endParaRPr b="1">
              <a:solidFill>
                <a:schemeClr val="dk2"/>
              </a:solidFill>
            </a:endParaRPr>
          </a:p>
          <a:p>
            <a:pPr marL="0" lvl="0" indent="0" algn="l" rtl="0">
              <a:lnSpc>
                <a:spcPct val="150000"/>
              </a:lnSpc>
              <a:spcBef>
                <a:spcPts val="0"/>
              </a:spcBef>
              <a:spcAft>
                <a:spcPts val="0"/>
              </a:spcAft>
              <a:buNone/>
            </a:pPr>
            <a:endParaRPr b="1">
              <a:solidFill>
                <a:schemeClr val="dk2"/>
              </a:solidFill>
            </a:endParaRPr>
          </a:p>
          <a:p>
            <a:pPr marL="457200" lvl="0" indent="-311150" algn="l" rtl="0">
              <a:lnSpc>
                <a:spcPct val="150000"/>
              </a:lnSpc>
              <a:spcBef>
                <a:spcPts val="0"/>
              </a:spcBef>
              <a:spcAft>
                <a:spcPts val="0"/>
              </a:spcAft>
              <a:buClr>
                <a:schemeClr val="dk2"/>
              </a:buClr>
              <a:buSzPts val="1300"/>
              <a:buChar char="●"/>
            </a:pPr>
            <a:r>
              <a:rPr lang="en-US" b="1">
                <a:solidFill>
                  <a:schemeClr val="dk2"/>
                </a:solidFill>
              </a:rPr>
              <a:t>Outer Loop: Position control</a:t>
            </a:r>
            <a:endParaRPr>
              <a:solidFill>
                <a:schemeClr val="dk2"/>
              </a:solidFill>
            </a:endParaRPr>
          </a:p>
          <a:p>
            <a:pPr marL="457200" lvl="0" indent="0" algn="l" rtl="0">
              <a:lnSpc>
                <a:spcPct val="150000"/>
              </a:lnSpc>
              <a:spcBef>
                <a:spcPts val="0"/>
              </a:spcBef>
              <a:spcAft>
                <a:spcPts val="0"/>
              </a:spcAft>
              <a:buNone/>
            </a:pPr>
            <a:r>
              <a:rPr lang="en-US">
                <a:solidFill>
                  <a:schemeClr val="dk2"/>
                </a:solidFill>
              </a:rPr>
              <a:t>Turns trajectory error into the necessary total thrust and use it to output the desired attitude angles.</a:t>
            </a:r>
            <a:endParaRPr>
              <a:solidFill>
                <a:schemeClr val="dk2"/>
              </a:solidFill>
            </a:endParaRPr>
          </a:p>
          <a:p>
            <a:pPr marL="457200" lvl="0" indent="0" algn="l" rtl="0">
              <a:spcBef>
                <a:spcPts val="0"/>
              </a:spcBef>
              <a:spcAft>
                <a:spcPts val="0"/>
              </a:spcAft>
              <a:buNone/>
            </a:pPr>
            <a:endParaRPr>
              <a:solidFill>
                <a:schemeClr val="dk2"/>
              </a:solidFill>
            </a:endParaRPr>
          </a:p>
          <a:p>
            <a:pPr marL="0" lvl="0" indent="0" algn="l" rtl="0">
              <a:spcBef>
                <a:spcPts val="0"/>
              </a:spcBef>
              <a:spcAft>
                <a:spcPts val="0"/>
              </a:spcAft>
              <a:buNone/>
            </a:pPr>
            <a:endParaRPr>
              <a:solidFill>
                <a:schemeClr val="dk2"/>
              </a:solidFill>
            </a:endParaRPr>
          </a:p>
          <a:p>
            <a:pPr marL="0" lvl="0" indent="0" algn="l" rtl="0">
              <a:spcBef>
                <a:spcPts val="0"/>
              </a:spcBef>
              <a:spcAft>
                <a:spcPts val="0"/>
              </a:spcAft>
              <a:buNone/>
            </a:pPr>
            <a:endParaRPr>
              <a:solidFill>
                <a:schemeClr val="dk2"/>
              </a:solidFill>
            </a:endParaRPr>
          </a:p>
          <a:p>
            <a:pPr marL="0" lvl="0" indent="0" algn="l" rtl="0">
              <a:spcBef>
                <a:spcPts val="0"/>
              </a:spcBef>
              <a:spcAft>
                <a:spcPts val="0"/>
              </a:spcAft>
              <a:buNone/>
            </a:pPr>
            <a:endParaRPr>
              <a:solidFill>
                <a:schemeClr val="dk2"/>
              </a:solidFill>
            </a:endParaRPr>
          </a:p>
          <a:p>
            <a:pPr marL="457200" lvl="0" indent="-311150" algn="l" rtl="0">
              <a:spcBef>
                <a:spcPts val="0"/>
              </a:spcBef>
              <a:spcAft>
                <a:spcPts val="0"/>
              </a:spcAft>
              <a:buClr>
                <a:schemeClr val="dk2"/>
              </a:buClr>
              <a:buSzPts val="1300"/>
              <a:buChar char="●"/>
            </a:pPr>
            <a:r>
              <a:rPr lang="en-US" b="1">
                <a:solidFill>
                  <a:schemeClr val="dk2"/>
                </a:solidFill>
              </a:rPr>
              <a:t>Inner Loop: Attitude control</a:t>
            </a:r>
            <a:endParaRPr b="1">
              <a:solidFill>
                <a:schemeClr val="dk2"/>
              </a:solidFill>
            </a:endParaRPr>
          </a:p>
          <a:p>
            <a:pPr marL="0" lvl="0" indent="0" algn="l" rtl="0">
              <a:spcBef>
                <a:spcPts val="0"/>
              </a:spcBef>
              <a:spcAft>
                <a:spcPts val="0"/>
              </a:spcAft>
              <a:buNone/>
            </a:pPr>
            <a:r>
              <a:rPr lang="en-US" sz="1400">
                <a:solidFill>
                  <a:schemeClr val="dk2"/>
                </a:solidFill>
              </a:rPr>
              <a:t>	</a:t>
            </a:r>
            <a:endParaRPr sz="1400">
              <a:solidFill>
                <a:schemeClr val="dk2"/>
              </a:solidFill>
            </a:endParaRPr>
          </a:p>
          <a:p>
            <a:pPr marL="0" lvl="0" indent="0" algn="l" rtl="0">
              <a:spcBef>
                <a:spcPts val="0"/>
              </a:spcBef>
              <a:spcAft>
                <a:spcPts val="0"/>
              </a:spcAft>
              <a:buNone/>
            </a:pPr>
          </a:p>
        </p:txBody>
      </p:sp>
      <p:cxnSp>
        <p:nvCxnSpPr>
          <p:cNvPr id="106" name="Google Shape;106;p11"/>
          <p:cNvCxnSpPr/>
          <p:nvPr/>
        </p:nvCxnSpPr>
        <p:spPr>
          <a:xfrm>
            <a:off x="3733363" y="1900402"/>
            <a:ext cx="439800" cy="0"/>
          </a:xfrm>
          <a:prstGeom prst="straightConnector1">
            <a:avLst/>
          </a:prstGeom>
          <a:noFill/>
          <a:ln w="8975" cap="flat" cmpd="sng">
            <a:solidFill>
              <a:schemeClr val="dk2"/>
            </a:solidFill>
            <a:prstDash val="solid"/>
            <a:round/>
            <a:headEnd type="none" w="med" len="med"/>
            <a:tailEnd type="triangle" w="med" len="med"/>
          </a:ln>
        </p:spPr>
      </p:cxnSp>
      <p:sp>
        <p:nvSpPr>
          <p:cNvPr id="107" name="Google Shape;107;p11"/>
          <p:cNvSpPr/>
          <p:nvPr/>
        </p:nvSpPr>
        <p:spPr>
          <a:xfrm>
            <a:off x="4162985" y="1712907"/>
            <a:ext cx="976200" cy="343800"/>
          </a:xfrm>
          <a:prstGeom prst="rect">
            <a:avLst/>
          </a:prstGeom>
          <a:solidFill>
            <a:schemeClr val="lt1"/>
          </a:solidFill>
          <a:ln w="6125" cap="flat" cmpd="sng">
            <a:solidFill>
              <a:schemeClr val="dk2"/>
            </a:solidFill>
            <a:prstDash val="solid"/>
            <a:round/>
            <a:headEnd type="none" w="sm" len="sm"/>
            <a:tailEnd type="none" w="sm" len="sm"/>
          </a:ln>
        </p:spPr>
        <p:txBody>
          <a:bodyPr spcFirstLastPara="1" wrap="square" lIns="58800" tIns="58800" rIns="58800" bIns="58800" anchor="ctr" anchorCtr="0">
            <a:noAutofit/>
          </a:bodyPr>
          <a:lstStyle/>
          <a:p>
            <a:pPr marL="0" lvl="0" indent="0" algn="ctr" rtl="0">
              <a:spcBef>
                <a:spcPts val="0"/>
              </a:spcBef>
              <a:spcAft>
                <a:spcPts val="0"/>
              </a:spcAft>
              <a:buNone/>
            </a:pPr>
            <a:r>
              <a:rPr lang="en-US" sz="900">
                <a:latin typeface="Catamaran"/>
                <a:ea typeface="Catamaran"/>
                <a:cs typeface="Catamaran"/>
                <a:sym typeface="Catamaran"/>
              </a:rPr>
              <a:t>Position controller</a:t>
            </a:r>
            <a:endParaRPr sz="900">
              <a:latin typeface="Catamaran"/>
              <a:ea typeface="Catamaran"/>
              <a:cs typeface="Catamaran"/>
              <a:sym typeface="Catamaran"/>
            </a:endParaRPr>
          </a:p>
        </p:txBody>
      </p:sp>
      <p:cxnSp>
        <p:nvCxnSpPr>
          <p:cNvPr id="108" name="Google Shape;108;p11"/>
          <p:cNvCxnSpPr/>
          <p:nvPr/>
        </p:nvCxnSpPr>
        <p:spPr>
          <a:xfrm>
            <a:off x="5139325" y="1751988"/>
            <a:ext cx="2087100" cy="0"/>
          </a:xfrm>
          <a:prstGeom prst="straightConnector1">
            <a:avLst/>
          </a:prstGeom>
          <a:noFill/>
          <a:ln w="6125" cap="flat" cmpd="sng">
            <a:solidFill>
              <a:schemeClr val="dk2"/>
            </a:solidFill>
            <a:prstDash val="solid"/>
            <a:round/>
            <a:headEnd type="none" w="med" len="med"/>
            <a:tailEnd type="triangle" w="med" len="med"/>
          </a:ln>
        </p:spPr>
      </p:cxnSp>
      <p:cxnSp>
        <p:nvCxnSpPr>
          <p:cNvPr id="109" name="Google Shape;109;p11"/>
          <p:cNvCxnSpPr/>
          <p:nvPr/>
        </p:nvCxnSpPr>
        <p:spPr>
          <a:xfrm>
            <a:off x="5139325" y="2001473"/>
            <a:ext cx="479700" cy="0"/>
          </a:xfrm>
          <a:prstGeom prst="straightConnector1">
            <a:avLst/>
          </a:prstGeom>
          <a:noFill/>
          <a:ln w="6125" cap="flat" cmpd="sng">
            <a:solidFill>
              <a:schemeClr val="dk2"/>
            </a:solidFill>
            <a:prstDash val="solid"/>
            <a:round/>
            <a:headEnd type="none" w="med" len="med"/>
            <a:tailEnd type="triangle" w="med" len="med"/>
          </a:ln>
        </p:spPr>
      </p:cxnSp>
      <p:sp>
        <p:nvSpPr>
          <p:cNvPr id="110" name="Google Shape;110;p11"/>
          <p:cNvSpPr/>
          <p:nvPr/>
        </p:nvSpPr>
        <p:spPr>
          <a:xfrm>
            <a:off x="5619103" y="1829395"/>
            <a:ext cx="976200" cy="343800"/>
          </a:xfrm>
          <a:prstGeom prst="rect">
            <a:avLst/>
          </a:prstGeom>
          <a:solidFill>
            <a:schemeClr val="lt1"/>
          </a:solidFill>
          <a:ln w="6125" cap="flat" cmpd="sng">
            <a:solidFill>
              <a:schemeClr val="dk2"/>
            </a:solidFill>
            <a:prstDash val="solid"/>
            <a:round/>
            <a:headEnd type="none" w="sm" len="sm"/>
            <a:tailEnd type="none" w="sm" len="sm"/>
          </a:ln>
        </p:spPr>
        <p:txBody>
          <a:bodyPr spcFirstLastPara="1" wrap="square" lIns="58800" tIns="58800" rIns="58800" bIns="58800" anchor="ctr" anchorCtr="0">
            <a:noAutofit/>
          </a:bodyPr>
          <a:lstStyle/>
          <a:p>
            <a:pPr marL="0" lvl="0" indent="0" algn="ctr" rtl="0">
              <a:spcBef>
                <a:spcPts val="0"/>
              </a:spcBef>
              <a:spcAft>
                <a:spcPts val="0"/>
              </a:spcAft>
              <a:buNone/>
            </a:pPr>
            <a:r>
              <a:rPr lang="en-US" sz="900">
                <a:latin typeface="Catamaran"/>
                <a:ea typeface="Catamaran"/>
                <a:cs typeface="Catamaran"/>
                <a:sym typeface="Catamaran"/>
              </a:rPr>
              <a:t>Attitude </a:t>
            </a:r>
            <a:r>
              <a:rPr lang="en-US" sz="900">
                <a:latin typeface="Catamaran"/>
                <a:ea typeface="Catamaran"/>
                <a:cs typeface="Catamaran"/>
                <a:sym typeface="Catamaran"/>
              </a:rPr>
              <a:t>controller</a:t>
            </a:r>
            <a:endParaRPr sz="900">
              <a:latin typeface="Catamaran"/>
              <a:ea typeface="Catamaran"/>
              <a:cs typeface="Catamaran"/>
              <a:sym typeface="Catamaran"/>
            </a:endParaRPr>
          </a:p>
        </p:txBody>
      </p:sp>
      <p:cxnSp>
        <p:nvCxnSpPr>
          <p:cNvPr id="111" name="Google Shape;111;p11"/>
          <p:cNvCxnSpPr/>
          <p:nvPr/>
        </p:nvCxnSpPr>
        <p:spPr>
          <a:xfrm>
            <a:off x="6595442" y="2001473"/>
            <a:ext cx="631200" cy="0"/>
          </a:xfrm>
          <a:prstGeom prst="straightConnector1">
            <a:avLst/>
          </a:prstGeom>
          <a:noFill/>
          <a:ln w="6125" cap="flat" cmpd="sng">
            <a:solidFill>
              <a:schemeClr val="dk2"/>
            </a:solidFill>
            <a:prstDash val="solid"/>
            <a:round/>
            <a:headEnd type="none" w="med" len="med"/>
            <a:tailEnd type="triangle" w="med" len="med"/>
          </a:ln>
        </p:spPr>
      </p:cxnSp>
      <p:sp>
        <p:nvSpPr>
          <p:cNvPr id="112" name="Google Shape;112;p11"/>
          <p:cNvSpPr/>
          <p:nvPr/>
        </p:nvSpPr>
        <p:spPr>
          <a:xfrm>
            <a:off x="7226465" y="1712907"/>
            <a:ext cx="976200" cy="363000"/>
          </a:xfrm>
          <a:prstGeom prst="rect">
            <a:avLst/>
          </a:prstGeom>
          <a:solidFill>
            <a:schemeClr val="lt1"/>
          </a:solidFill>
          <a:ln w="6125" cap="flat" cmpd="sng">
            <a:solidFill>
              <a:schemeClr val="dk2"/>
            </a:solidFill>
            <a:prstDash val="solid"/>
            <a:round/>
            <a:headEnd type="none" w="sm" len="sm"/>
            <a:tailEnd type="none" w="sm" len="sm"/>
          </a:ln>
        </p:spPr>
        <p:txBody>
          <a:bodyPr spcFirstLastPara="1" wrap="square" lIns="58800" tIns="58800" rIns="58800" bIns="58800" anchor="ctr" anchorCtr="0">
            <a:noAutofit/>
          </a:bodyPr>
          <a:lstStyle/>
          <a:p>
            <a:pPr marL="0" lvl="0" indent="0" algn="ctr" rtl="0">
              <a:spcBef>
                <a:spcPts val="0"/>
              </a:spcBef>
              <a:spcAft>
                <a:spcPts val="0"/>
              </a:spcAft>
              <a:buNone/>
            </a:pPr>
            <a:r>
              <a:rPr lang="en-US" sz="900">
                <a:latin typeface="Catamaran"/>
                <a:ea typeface="Catamaran"/>
                <a:cs typeface="Catamaran"/>
                <a:sym typeface="Catamaran"/>
              </a:rPr>
              <a:t>Dynamic model</a:t>
            </a:r>
            <a:endParaRPr sz="900">
              <a:latin typeface="Catamaran"/>
              <a:ea typeface="Catamaran"/>
              <a:cs typeface="Catamaran"/>
              <a:sym typeface="Catamaran"/>
            </a:endParaRPr>
          </a:p>
        </p:txBody>
      </p:sp>
      <p:cxnSp>
        <p:nvCxnSpPr>
          <p:cNvPr id="113" name="Google Shape;113;p11"/>
          <p:cNvCxnSpPr/>
          <p:nvPr/>
        </p:nvCxnSpPr>
        <p:spPr>
          <a:xfrm>
            <a:off x="8195516" y="1900407"/>
            <a:ext cx="681600" cy="0"/>
          </a:xfrm>
          <a:prstGeom prst="straightConnector1">
            <a:avLst/>
          </a:prstGeom>
          <a:noFill/>
          <a:ln w="6125" cap="flat" cmpd="sng">
            <a:solidFill>
              <a:schemeClr val="dk2"/>
            </a:solidFill>
            <a:prstDash val="solid"/>
            <a:round/>
            <a:headEnd type="none" w="med" len="med"/>
            <a:tailEnd type="triangle" w="med" len="med"/>
          </a:ln>
        </p:spPr>
      </p:cxnSp>
      <p:sp>
        <p:nvSpPr>
          <p:cNvPr id="114" name="Google Shape;114;p11"/>
          <p:cNvSpPr txBox="1"/>
          <p:nvPr/>
        </p:nvSpPr>
        <p:spPr>
          <a:xfrm>
            <a:off x="3688225" y="1735156"/>
            <a:ext cx="530100" cy="136500"/>
          </a:xfrm>
          <a:prstGeom prst="rect">
            <a:avLst/>
          </a:prstGeom>
          <a:noFill/>
          <a:ln>
            <a:noFill/>
          </a:ln>
        </p:spPr>
        <p:txBody>
          <a:bodyPr spcFirstLastPara="1" wrap="square" lIns="58800" tIns="58800" rIns="58800" bIns="58800" anchor="t" anchorCtr="0">
            <a:noAutofit/>
          </a:bodyPr>
          <a:lstStyle/>
          <a:p>
            <a:pPr marL="0" lvl="0" indent="0" algn="l" rtl="0">
              <a:spcBef>
                <a:spcPts val="0"/>
              </a:spcBef>
              <a:spcAft>
                <a:spcPts val="0"/>
              </a:spcAft>
              <a:buNone/>
            </a:pPr>
            <a:r>
              <a:rPr lang="en-US" sz="580" b="1">
                <a:solidFill>
                  <a:schemeClr val="dk2"/>
                </a:solidFill>
                <a:latin typeface="Catamaran"/>
                <a:ea typeface="Catamaran"/>
                <a:cs typeface="Catamaran"/>
                <a:sym typeface="Catamaran"/>
              </a:rPr>
              <a:t>Traj_error</a:t>
            </a:r>
            <a:endParaRPr sz="580" b="1">
              <a:solidFill>
                <a:schemeClr val="dk2"/>
              </a:solidFill>
              <a:latin typeface="Catamaran"/>
              <a:ea typeface="Catamaran"/>
              <a:cs typeface="Catamaran"/>
              <a:sym typeface="Catamaran"/>
            </a:endParaRPr>
          </a:p>
        </p:txBody>
      </p:sp>
      <p:sp>
        <p:nvSpPr>
          <p:cNvPr id="115" name="Google Shape;115;p11"/>
          <p:cNvSpPr txBox="1"/>
          <p:nvPr/>
        </p:nvSpPr>
        <p:spPr>
          <a:xfrm>
            <a:off x="5139331" y="1858129"/>
            <a:ext cx="463200" cy="84600"/>
          </a:xfrm>
          <a:prstGeom prst="rect">
            <a:avLst/>
          </a:prstGeom>
          <a:noFill/>
          <a:ln>
            <a:noFill/>
          </a:ln>
        </p:spPr>
        <p:txBody>
          <a:bodyPr spcFirstLastPara="1" wrap="square" lIns="58800" tIns="58800" rIns="58800" bIns="58800" anchor="t" anchorCtr="0">
            <a:noAutofit/>
          </a:bodyPr>
          <a:lstStyle/>
          <a:p>
            <a:pPr marL="0" lvl="0" indent="0" algn="l" rtl="0">
              <a:spcBef>
                <a:spcPts val="0"/>
              </a:spcBef>
              <a:spcAft>
                <a:spcPts val="0"/>
              </a:spcAft>
              <a:buNone/>
            </a:pPr>
            <a:r>
              <a:rPr lang="en-US" sz="580" b="1">
                <a:solidFill>
                  <a:schemeClr val="dk2"/>
                </a:solidFill>
                <a:latin typeface="Catamaran"/>
                <a:ea typeface="Catamaran"/>
                <a:cs typeface="Catamaran"/>
                <a:sym typeface="Catamaran"/>
              </a:rPr>
              <a:t>Euler_des</a:t>
            </a:r>
            <a:endParaRPr sz="580" b="1">
              <a:solidFill>
                <a:schemeClr val="dk2"/>
              </a:solidFill>
              <a:latin typeface="Catamaran"/>
              <a:ea typeface="Catamaran"/>
              <a:cs typeface="Catamaran"/>
              <a:sym typeface="Catamaran"/>
            </a:endParaRPr>
          </a:p>
        </p:txBody>
      </p:sp>
      <p:sp>
        <p:nvSpPr>
          <p:cNvPr id="116" name="Google Shape;116;p11"/>
          <p:cNvSpPr txBox="1"/>
          <p:nvPr/>
        </p:nvSpPr>
        <p:spPr>
          <a:xfrm>
            <a:off x="8202816" y="1731636"/>
            <a:ext cx="858300" cy="136500"/>
          </a:xfrm>
          <a:prstGeom prst="rect">
            <a:avLst/>
          </a:prstGeom>
          <a:noFill/>
          <a:ln>
            <a:noFill/>
          </a:ln>
        </p:spPr>
        <p:txBody>
          <a:bodyPr spcFirstLastPara="1" wrap="square" lIns="58800" tIns="58800" rIns="58800" bIns="58800" anchor="t" anchorCtr="0">
            <a:noAutofit/>
          </a:bodyPr>
          <a:lstStyle/>
          <a:p>
            <a:pPr marL="0" lvl="0" indent="0" algn="l" rtl="0">
              <a:spcBef>
                <a:spcPts val="0"/>
              </a:spcBef>
              <a:spcAft>
                <a:spcPts val="0"/>
              </a:spcAft>
              <a:buNone/>
            </a:pPr>
            <a:r>
              <a:rPr lang="en-US" sz="580" b="1">
                <a:solidFill>
                  <a:schemeClr val="dk2"/>
                </a:solidFill>
                <a:latin typeface="Catamaran"/>
                <a:ea typeface="Catamaran"/>
                <a:cs typeface="Catamaran"/>
                <a:sym typeface="Catamaran"/>
              </a:rPr>
              <a:t>State</a:t>
            </a:r>
            <a:endParaRPr sz="580" b="1">
              <a:solidFill>
                <a:schemeClr val="dk2"/>
              </a:solidFill>
              <a:latin typeface="Catamaran"/>
              <a:ea typeface="Catamaran"/>
              <a:cs typeface="Catamaran"/>
              <a:sym typeface="Catamaran"/>
            </a:endParaRPr>
          </a:p>
        </p:txBody>
      </p:sp>
      <p:pic>
        <p:nvPicPr>
          <p:cNvPr id="117" name="Google Shape;117;p11"/>
          <p:cNvPicPr preferRelativeResize="0"/>
          <p:nvPr/>
        </p:nvPicPr>
        <p:blipFill>
          <a:blip r:embed="rId1"/>
          <a:stretch>
            <a:fillRect/>
          </a:stretch>
        </p:blipFill>
        <p:spPr>
          <a:xfrm>
            <a:off x="2640711" y="4157414"/>
            <a:ext cx="3862589" cy="502200"/>
          </a:xfrm>
          <a:prstGeom prst="rect">
            <a:avLst/>
          </a:prstGeom>
          <a:noFill/>
          <a:ln>
            <a:noFill/>
          </a:ln>
        </p:spPr>
      </p:pic>
      <p:pic>
        <p:nvPicPr>
          <p:cNvPr id="118" name="Google Shape;118;p11"/>
          <p:cNvPicPr preferRelativeResize="0"/>
          <p:nvPr/>
        </p:nvPicPr>
        <p:blipFill>
          <a:blip r:embed="rId2"/>
          <a:stretch>
            <a:fillRect/>
          </a:stretch>
        </p:blipFill>
        <p:spPr>
          <a:xfrm>
            <a:off x="2567525" y="3418229"/>
            <a:ext cx="4008960" cy="462100"/>
          </a:xfrm>
          <a:prstGeom prst="rect">
            <a:avLst/>
          </a:prstGeom>
          <a:noFill/>
          <a:ln>
            <a:noFill/>
          </a:ln>
        </p:spPr>
      </p:pic>
      <p:pic>
        <p:nvPicPr>
          <p:cNvPr id="119" name="Google Shape;119;p11"/>
          <p:cNvPicPr preferRelativeResize="0"/>
          <p:nvPr/>
        </p:nvPicPr>
        <p:blipFill>
          <a:blip r:embed="rId3"/>
          <a:stretch>
            <a:fillRect/>
          </a:stretch>
        </p:blipFill>
        <p:spPr>
          <a:xfrm>
            <a:off x="2772425" y="3066888"/>
            <a:ext cx="3599150" cy="424400"/>
          </a:xfrm>
          <a:prstGeom prst="rect">
            <a:avLst/>
          </a:prstGeom>
          <a:noFill/>
          <a:ln>
            <a:noFill/>
          </a:ln>
        </p:spPr>
      </p:pic>
      <p:sp>
        <p:nvSpPr>
          <p:cNvPr id="120" name="Google Shape;120;p11"/>
          <p:cNvSpPr txBox="1"/>
          <p:nvPr/>
        </p:nvSpPr>
        <p:spPr>
          <a:xfrm>
            <a:off x="5139340" y="1596501"/>
            <a:ext cx="858300" cy="136500"/>
          </a:xfrm>
          <a:prstGeom prst="rect">
            <a:avLst/>
          </a:prstGeom>
          <a:noFill/>
          <a:ln>
            <a:noFill/>
          </a:ln>
        </p:spPr>
        <p:txBody>
          <a:bodyPr spcFirstLastPara="1" wrap="square" lIns="58800" tIns="58800" rIns="58800" bIns="58800" anchor="t" anchorCtr="0">
            <a:noAutofit/>
          </a:bodyPr>
          <a:lstStyle/>
          <a:p>
            <a:pPr marL="0" lvl="0" indent="0" algn="l" rtl="0">
              <a:spcBef>
                <a:spcPts val="0"/>
              </a:spcBef>
              <a:spcAft>
                <a:spcPts val="0"/>
              </a:spcAft>
              <a:buNone/>
            </a:pPr>
            <a:r>
              <a:rPr lang="en-US" sz="580" b="1">
                <a:solidFill>
                  <a:schemeClr val="dk2"/>
                </a:solidFill>
                <a:latin typeface="Catamaran"/>
                <a:ea typeface="Catamaran"/>
                <a:cs typeface="Catamaran"/>
                <a:sym typeface="Catamaran"/>
              </a:rPr>
              <a:t>Thrust</a:t>
            </a:r>
            <a:endParaRPr sz="580" b="1">
              <a:solidFill>
                <a:schemeClr val="dk2"/>
              </a:solidFill>
              <a:latin typeface="Catamaran"/>
              <a:ea typeface="Catamaran"/>
              <a:cs typeface="Catamaran"/>
              <a:sym typeface="Catamaran"/>
            </a:endParaRPr>
          </a:p>
        </p:txBody>
      </p:sp>
      <p:cxnSp>
        <p:nvCxnSpPr>
          <p:cNvPr id="121" name="Google Shape;121;p11"/>
          <p:cNvCxnSpPr/>
          <p:nvPr/>
        </p:nvCxnSpPr>
        <p:spPr>
          <a:xfrm>
            <a:off x="8536380" y="1904758"/>
            <a:ext cx="0" cy="472800"/>
          </a:xfrm>
          <a:prstGeom prst="straightConnector1">
            <a:avLst/>
          </a:prstGeom>
          <a:noFill/>
          <a:ln w="10100" cap="flat" cmpd="sng">
            <a:solidFill>
              <a:schemeClr val="dk2"/>
            </a:solidFill>
            <a:prstDash val="solid"/>
            <a:round/>
            <a:headEnd type="none" w="med" len="med"/>
            <a:tailEnd type="none" w="med" len="med"/>
          </a:ln>
        </p:spPr>
      </p:cxnSp>
      <p:sp>
        <p:nvSpPr>
          <p:cNvPr id="122" name="Google Shape;122;p11"/>
          <p:cNvSpPr/>
          <p:nvPr/>
        </p:nvSpPr>
        <p:spPr>
          <a:xfrm>
            <a:off x="3733375" y="1601876"/>
            <a:ext cx="5143800" cy="798900"/>
          </a:xfrm>
          <a:prstGeom prst="rect">
            <a:avLst/>
          </a:prstGeom>
          <a:noFill/>
          <a:ln w="9525" cap="flat" cmpd="sng">
            <a:solidFill>
              <a:srgbClr val="6F0A1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2"/>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Dynamic Model </a:t>
            </a:r>
            <a:endParaRPr lang="en-US"/>
          </a:p>
        </p:txBody>
      </p:sp>
      <p:sp>
        <p:nvSpPr>
          <p:cNvPr id="128" name="Google Shape;128;p12"/>
          <p:cNvSpPr txBox="1"/>
          <p:nvPr>
            <p:ph type="body" idx="1"/>
          </p:nvPr>
        </p:nvSpPr>
        <p:spPr>
          <a:xfrm>
            <a:off x="727650" y="1622025"/>
            <a:ext cx="7688700" cy="31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1">
                <a:solidFill>
                  <a:schemeClr val="dk2"/>
                </a:solidFill>
              </a:rPr>
              <a:t>Simplified model seen during lectures</a:t>
            </a:r>
            <a:r>
              <a:rPr lang="en-US" sz="1400">
                <a:solidFill>
                  <a:schemeClr val="dk2"/>
                </a:solidFill>
              </a:rPr>
              <a:t>.</a:t>
            </a:r>
            <a:endParaRPr sz="1400">
              <a:solidFill>
                <a:schemeClr val="dk2"/>
              </a:solidFill>
            </a:endParaRPr>
          </a:p>
          <a:p>
            <a:pPr marL="0" lvl="0" indent="0" algn="l" rtl="0">
              <a:spcBef>
                <a:spcPts val="0"/>
              </a:spcBef>
              <a:spcAft>
                <a:spcPts val="0"/>
              </a:spcAft>
              <a:buNone/>
            </a:pPr>
            <a:endParaRPr sz="1400">
              <a:solidFill>
                <a:schemeClr val="dk2"/>
              </a:solidFill>
            </a:endParaRPr>
          </a:p>
          <a:p>
            <a:pPr marL="0" lvl="0" indent="0" algn="l" rtl="0">
              <a:spcBef>
                <a:spcPts val="0"/>
              </a:spcBef>
              <a:spcAft>
                <a:spcPts val="0"/>
              </a:spcAft>
              <a:buNone/>
            </a:pPr>
            <a:r>
              <a:rPr lang="en-US" sz="1400" b="1">
                <a:solidFill>
                  <a:schemeClr val="dk2"/>
                </a:solidFill>
              </a:rPr>
              <a:t>Neglected</a:t>
            </a:r>
            <a:r>
              <a:rPr lang="en-US" sz="1400">
                <a:solidFill>
                  <a:schemeClr val="dk2"/>
                </a:solidFill>
              </a:rPr>
              <a:t>:</a:t>
            </a:r>
            <a:endParaRPr sz="1400">
              <a:solidFill>
                <a:schemeClr val="dk2"/>
              </a:solidFill>
            </a:endParaRPr>
          </a:p>
          <a:p>
            <a:pPr marL="457200" lvl="0" indent="-317500" algn="l" rtl="0">
              <a:spcBef>
                <a:spcPts val="0"/>
              </a:spcBef>
              <a:spcAft>
                <a:spcPts val="0"/>
              </a:spcAft>
              <a:buClr>
                <a:schemeClr val="dk2"/>
              </a:buClr>
              <a:buSzPts val="1400"/>
              <a:buChar char="●"/>
            </a:pPr>
            <a:r>
              <a:rPr lang="en-US" sz="1400">
                <a:solidFill>
                  <a:schemeClr val="dk2"/>
                </a:solidFill>
              </a:rPr>
              <a:t>Aerodynamics</a:t>
            </a:r>
            <a:endParaRPr sz="1400">
              <a:solidFill>
                <a:schemeClr val="dk2"/>
              </a:solidFill>
            </a:endParaRPr>
          </a:p>
          <a:p>
            <a:pPr marL="457200" lvl="0" indent="-317500" algn="l" rtl="0">
              <a:spcBef>
                <a:spcPts val="0"/>
              </a:spcBef>
              <a:spcAft>
                <a:spcPts val="0"/>
              </a:spcAft>
              <a:buClr>
                <a:schemeClr val="dk2"/>
              </a:buClr>
              <a:buSzPts val="1400"/>
              <a:buChar char="●"/>
            </a:pPr>
            <a:r>
              <a:rPr lang="en-US" sz="1400">
                <a:solidFill>
                  <a:schemeClr val="dk2"/>
                </a:solidFill>
              </a:rPr>
              <a:t>Gyroscopic effects</a:t>
            </a:r>
            <a:endParaRPr sz="1400">
              <a:solidFill>
                <a:schemeClr val="dk2"/>
              </a:solidFill>
            </a:endParaRPr>
          </a:p>
          <a:p>
            <a:pPr marL="0" lvl="0" indent="0" algn="l" rtl="0">
              <a:spcBef>
                <a:spcPts val="0"/>
              </a:spcBef>
              <a:spcAft>
                <a:spcPts val="0"/>
              </a:spcAft>
              <a:buNone/>
            </a:pPr>
            <a:endParaRPr sz="1400">
              <a:solidFill>
                <a:schemeClr val="dk2"/>
              </a:solidFill>
            </a:endParaRPr>
          </a:p>
          <a:p>
            <a:pPr marL="0" lvl="0" indent="0" algn="l" rtl="0">
              <a:spcBef>
                <a:spcPts val="0"/>
              </a:spcBef>
              <a:spcAft>
                <a:spcPts val="0"/>
              </a:spcAft>
              <a:buNone/>
            </a:pPr>
            <a:r>
              <a:rPr lang="en-US" sz="1400" b="1">
                <a:solidFill>
                  <a:schemeClr val="dk2"/>
                </a:solidFill>
              </a:rPr>
              <a:t>Assumed</a:t>
            </a:r>
            <a:r>
              <a:rPr lang="en-US" sz="1400">
                <a:solidFill>
                  <a:schemeClr val="dk2"/>
                </a:solidFill>
              </a:rPr>
              <a:t>:</a:t>
            </a:r>
            <a:endParaRPr sz="1400">
              <a:solidFill>
                <a:schemeClr val="dk2"/>
              </a:solidFill>
            </a:endParaRPr>
          </a:p>
          <a:p>
            <a:pPr marL="457200" lvl="0" indent="-317500" algn="l" rtl="0">
              <a:spcBef>
                <a:spcPts val="0"/>
              </a:spcBef>
              <a:spcAft>
                <a:spcPts val="0"/>
              </a:spcAft>
              <a:buClr>
                <a:schemeClr val="dk2"/>
              </a:buClr>
              <a:buSzPts val="1400"/>
              <a:buChar char="●"/>
            </a:pPr>
            <a:r>
              <a:rPr lang="en-US" sz="1400">
                <a:solidFill>
                  <a:schemeClr val="dk2"/>
                </a:solidFill>
              </a:rPr>
              <a:t>Small roll and pitch angles</a:t>
            </a:r>
            <a:endParaRPr sz="1400">
              <a:solidFill>
                <a:schemeClr val="dk2"/>
              </a:solidFill>
            </a:endParaRPr>
          </a:p>
          <a:p>
            <a:pPr marL="457200" lvl="0" indent="-317500" algn="l" rtl="0">
              <a:spcBef>
                <a:spcPts val="0"/>
              </a:spcBef>
              <a:spcAft>
                <a:spcPts val="0"/>
              </a:spcAft>
              <a:buClr>
                <a:schemeClr val="dk2"/>
              </a:buClr>
              <a:buSzPts val="1400"/>
              <a:buChar char="●"/>
            </a:pPr>
            <a:r>
              <a:rPr lang="en-US" sz="1400">
                <a:solidFill>
                  <a:schemeClr val="dk2"/>
                </a:solidFill>
              </a:rPr>
              <a:t>Symmetric shape</a:t>
            </a:r>
            <a:endParaRPr sz="1400">
              <a:solidFill>
                <a:schemeClr val="dk2"/>
              </a:solidFill>
            </a:endParaRPr>
          </a:p>
          <a:p>
            <a:pPr marL="457200" lvl="0" indent="-317500" algn="l" rtl="0">
              <a:spcBef>
                <a:spcPts val="0"/>
              </a:spcBef>
              <a:spcAft>
                <a:spcPts val="0"/>
              </a:spcAft>
              <a:buClr>
                <a:schemeClr val="dk2"/>
              </a:buClr>
              <a:buSzPts val="1400"/>
              <a:buChar char="●"/>
            </a:pPr>
            <a:r>
              <a:rPr lang="en-US" sz="1400">
                <a:solidFill>
                  <a:schemeClr val="dk2"/>
                </a:solidFill>
              </a:rPr>
              <a:t>Negligible disturbances</a:t>
            </a:r>
            <a:endParaRPr sz="1400">
              <a:solidFill>
                <a:schemeClr val="dk2"/>
              </a:solidFill>
            </a:endParaRPr>
          </a:p>
        </p:txBody>
      </p:sp>
      <p:pic>
        <p:nvPicPr>
          <p:cNvPr id="129" name="Google Shape;129;p12"/>
          <p:cNvPicPr preferRelativeResize="0"/>
          <p:nvPr/>
        </p:nvPicPr>
        <p:blipFill>
          <a:blip r:embed="rId1"/>
          <a:stretch>
            <a:fillRect/>
          </a:stretch>
        </p:blipFill>
        <p:spPr>
          <a:xfrm>
            <a:off x="5239496" y="1668700"/>
            <a:ext cx="3581874" cy="2838700"/>
          </a:xfrm>
          <a:prstGeom prst="rect">
            <a:avLst/>
          </a:prstGeom>
          <a:noFill/>
          <a:ln w="19050" cap="flat" cmpd="sng">
            <a:solidFill>
              <a:srgbClr val="6F0A19"/>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sp>
        <p:nvSpPr>
          <p:cNvPr id="134" name="Google Shape;134;p13"/>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Simulation and Control environments</a:t>
            </a:r>
            <a:endParaRPr lang="en-US"/>
          </a:p>
        </p:txBody>
      </p:sp>
      <p:sp>
        <p:nvSpPr>
          <p:cNvPr id="135" name="Google Shape;135;p13"/>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pic>
        <p:nvPicPr>
          <p:cNvPr id="136" name="Google Shape;136;p13"/>
          <p:cNvPicPr preferRelativeResize="0"/>
          <p:nvPr/>
        </p:nvPicPr>
        <p:blipFill rotWithShape="1">
          <a:blip r:embed="rId1"/>
          <a:srcRect l="2460" t="8434" r="1061" b="5239"/>
          <a:stretch>
            <a:fillRect/>
          </a:stretch>
        </p:blipFill>
        <p:spPr>
          <a:xfrm>
            <a:off x="411300" y="2061975"/>
            <a:ext cx="8558248" cy="2346400"/>
          </a:xfrm>
          <a:prstGeom prst="rect">
            <a:avLst/>
          </a:prstGeom>
          <a:noFill/>
          <a:ln>
            <a:noFill/>
          </a:ln>
        </p:spPr>
      </p:pic>
      <p:sp>
        <p:nvSpPr>
          <p:cNvPr id="137" name="Google Shape;137;p13"/>
          <p:cNvSpPr txBox="1"/>
          <p:nvPr>
            <p:ph type="body" idx="1"/>
          </p:nvPr>
        </p:nvSpPr>
        <p:spPr>
          <a:xfrm>
            <a:off x="727650" y="1277825"/>
            <a:ext cx="7583100" cy="58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2"/>
                </a:solidFill>
              </a:rPr>
              <a:t>The simulation and control system </a:t>
            </a:r>
            <a:r>
              <a:rPr lang="en-US" sz="1400">
                <a:solidFill>
                  <a:schemeClr val="dk2"/>
                </a:solidFill>
              </a:rPr>
              <a:t>implementations</a:t>
            </a:r>
            <a:r>
              <a:rPr lang="en-US" sz="1400">
                <a:solidFill>
                  <a:schemeClr val="dk2"/>
                </a:solidFill>
              </a:rPr>
              <a:t> relies on </a:t>
            </a:r>
            <a:r>
              <a:rPr lang="en-US" sz="1400" b="1">
                <a:solidFill>
                  <a:schemeClr val="dk2"/>
                </a:solidFill>
              </a:rPr>
              <a:t>Matlab/Simulink </a:t>
            </a:r>
            <a:r>
              <a:rPr lang="en-US" sz="1400">
                <a:solidFill>
                  <a:schemeClr val="dk2"/>
                </a:solidFill>
              </a:rPr>
              <a:t>for all the computational tasks, it is integrated and synchronized with </a:t>
            </a:r>
            <a:r>
              <a:rPr lang="en-US" sz="1400" b="1">
                <a:solidFill>
                  <a:schemeClr val="dk2"/>
                </a:solidFill>
              </a:rPr>
              <a:t>CoppeliaSim </a:t>
            </a:r>
            <a:r>
              <a:rPr lang="en-US" sz="1400">
                <a:solidFill>
                  <a:schemeClr val="dk2"/>
                </a:solidFill>
              </a:rPr>
              <a:t>for both </a:t>
            </a:r>
            <a:r>
              <a:rPr lang="en-US" sz="1400" b="1">
                <a:solidFill>
                  <a:schemeClr val="dk2"/>
                </a:solidFill>
              </a:rPr>
              <a:t>3D visualization </a:t>
            </a:r>
            <a:r>
              <a:rPr lang="en-US" sz="1400">
                <a:solidFill>
                  <a:schemeClr val="dk2"/>
                </a:solidFill>
              </a:rPr>
              <a:t>purposes and </a:t>
            </a:r>
            <a:r>
              <a:rPr lang="en-US" sz="1400">
                <a:solidFill>
                  <a:schemeClr val="dk2"/>
                </a:solidFill>
              </a:rPr>
              <a:t>especially</a:t>
            </a:r>
            <a:r>
              <a:rPr lang="en-US" sz="1400">
                <a:solidFill>
                  <a:schemeClr val="dk2"/>
                </a:solidFill>
              </a:rPr>
              <a:t>, </a:t>
            </a:r>
            <a:r>
              <a:rPr lang="en-US" sz="1400" b="1">
                <a:solidFill>
                  <a:schemeClr val="dk2"/>
                </a:solidFill>
              </a:rPr>
              <a:t>camera simulation purposes</a:t>
            </a:r>
            <a:r>
              <a:rPr lang="en-US" sz="1400">
                <a:solidFill>
                  <a:schemeClr val="dk2"/>
                </a:solidFill>
              </a:rPr>
              <a:t>.</a:t>
            </a:r>
            <a:endParaRPr sz="1400">
              <a:solidFill>
                <a:schemeClr val="dk2"/>
              </a:solidFill>
            </a:endParaRPr>
          </a:p>
          <a:p>
            <a:pPr marL="0" lvl="0" indent="0" algn="l" rtl="0">
              <a:spcBef>
                <a:spcPts val="0"/>
              </a:spcBef>
              <a:spcAft>
                <a:spcPts val="0"/>
              </a:spcAft>
              <a:buNone/>
            </a:pPr>
            <a:endParaRPr sz="1400">
              <a:solidFill>
                <a:schemeClr val="dk2"/>
              </a:solidFill>
            </a:endParaRPr>
          </a:p>
          <a:p>
            <a:pPr marL="0" lvl="0" indent="0" algn="l" rtl="0">
              <a:spcBef>
                <a:spcPts val="0"/>
              </a:spcBef>
              <a:spcAft>
                <a:spcPts val="0"/>
              </a:spcAft>
              <a:buNone/>
            </a:pPr>
            <a:endParaRPr>
              <a:solidFill>
                <a:schemeClr val="dk2"/>
              </a:solidFill>
            </a:endParaRPr>
          </a:p>
          <a:p>
            <a:pPr marL="457200" lvl="0" indent="0" algn="l" rtl="0">
              <a:spcBef>
                <a:spcPts val="0"/>
              </a:spcBef>
              <a:spcAft>
                <a:spcPts val="0"/>
              </a:spcAft>
              <a:buNone/>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4"/>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Software Integration Pipeline</a:t>
            </a:r>
            <a:endParaRPr lang="en-US"/>
          </a:p>
        </p:txBody>
      </p:sp>
      <p:sp>
        <p:nvSpPr>
          <p:cNvPr id="143" name="Google Shape;143;p14"/>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4" name="Google Shape;144;p14"/>
          <p:cNvSpPr txBox="1"/>
          <p:nvPr/>
        </p:nvSpPr>
        <p:spPr>
          <a:xfrm>
            <a:off x="727650" y="1397000"/>
            <a:ext cx="67155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a:solidFill>
                  <a:schemeClr val="dk2"/>
                </a:solidFill>
                <a:latin typeface="Catamaran"/>
                <a:ea typeface="Catamaran"/>
                <a:cs typeface="Catamaran"/>
                <a:sym typeface="Catamaran"/>
              </a:rPr>
              <a:t>Simplified pipeline of how the different software systems interact with each other:</a:t>
            </a:r>
            <a:endParaRPr>
              <a:solidFill>
                <a:schemeClr val="dk2"/>
              </a:solidFill>
              <a:latin typeface="Catamaran"/>
              <a:ea typeface="Catamaran"/>
              <a:cs typeface="Catamaran"/>
              <a:sym typeface="Catamaran"/>
            </a:endParaRPr>
          </a:p>
        </p:txBody>
      </p:sp>
      <p:pic>
        <p:nvPicPr>
          <p:cNvPr id="145" name="Google Shape;145;p14"/>
          <p:cNvPicPr preferRelativeResize="0"/>
          <p:nvPr/>
        </p:nvPicPr>
        <p:blipFill>
          <a:blip r:embed="rId1"/>
          <a:stretch>
            <a:fillRect/>
          </a:stretch>
        </p:blipFill>
        <p:spPr>
          <a:xfrm>
            <a:off x="262425" y="1958775"/>
            <a:ext cx="8839204" cy="20112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15"/>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Platform Detection</a:t>
            </a:r>
            <a:endParaRPr lang="en-US"/>
          </a:p>
        </p:txBody>
      </p:sp>
      <p:sp>
        <p:nvSpPr>
          <p:cNvPr id="151" name="Google Shape;151;p15"/>
          <p:cNvSpPr txBox="1"/>
          <p:nvPr>
            <p:ph type="body" idx="1"/>
          </p:nvPr>
        </p:nvSpPr>
        <p:spPr>
          <a:xfrm>
            <a:off x="727650" y="1397000"/>
            <a:ext cx="5098500" cy="8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2"/>
                </a:solidFill>
              </a:rPr>
              <a:t>Platform detection relies on a visual tag of </a:t>
            </a:r>
            <a:r>
              <a:rPr lang="en-US" sz="1400" b="1">
                <a:solidFill>
                  <a:schemeClr val="dk2"/>
                </a:solidFill>
              </a:rPr>
              <a:t>known dimension</a:t>
            </a:r>
            <a:r>
              <a:rPr lang="en-US" sz="1400">
                <a:solidFill>
                  <a:schemeClr val="dk2"/>
                </a:solidFill>
              </a:rPr>
              <a:t> mounted on the moving platform, shown on the right.</a:t>
            </a:r>
            <a:endParaRPr sz="1400">
              <a:solidFill>
                <a:schemeClr val="dk2"/>
              </a:solidFill>
            </a:endParaRPr>
          </a:p>
          <a:p>
            <a:pPr marL="0" lvl="0" indent="0" algn="l" rtl="0">
              <a:spcBef>
                <a:spcPts val="0"/>
              </a:spcBef>
              <a:spcAft>
                <a:spcPts val="0"/>
              </a:spcAft>
              <a:buNone/>
            </a:pPr>
            <a:r>
              <a:rPr lang="en-US" sz="1400">
                <a:solidFill>
                  <a:schemeClr val="dk2"/>
                </a:solidFill>
              </a:rPr>
              <a:t>Platform detection can be broken down into five phases:</a:t>
            </a:r>
            <a:endParaRPr sz="1400">
              <a:solidFill>
                <a:schemeClr val="dk2"/>
              </a:solidFill>
            </a:endParaRPr>
          </a:p>
          <a:p>
            <a:pPr marL="0" lvl="0" indent="0" algn="l" rtl="0">
              <a:spcBef>
                <a:spcPts val="0"/>
              </a:spcBef>
              <a:spcAft>
                <a:spcPts val="0"/>
              </a:spcAft>
              <a:buNone/>
            </a:pPr>
            <a:endParaRPr sz="1400">
              <a:solidFill>
                <a:schemeClr val="dk2"/>
              </a:solidFill>
            </a:endParaRPr>
          </a:p>
        </p:txBody>
      </p:sp>
      <p:sp>
        <p:nvSpPr>
          <p:cNvPr id="152" name="Google Shape;152;p15"/>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pic>
        <p:nvPicPr>
          <p:cNvPr id="153" name="Google Shape;153;p15"/>
          <p:cNvPicPr preferRelativeResize="0"/>
          <p:nvPr/>
        </p:nvPicPr>
        <p:blipFill>
          <a:blip r:embed="rId1"/>
          <a:stretch>
            <a:fillRect/>
          </a:stretch>
        </p:blipFill>
        <p:spPr>
          <a:xfrm>
            <a:off x="6367025" y="1643250"/>
            <a:ext cx="2287700" cy="2278750"/>
          </a:xfrm>
          <a:prstGeom prst="rect">
            <a:avLst/>
          </a:prstGeom>
          <a:noFill/>
          <a:ln>
            <a:noFill/>
          </a:ln>
        </p:spPr>
      </p:pic>
      <p:sp>
        <p:nvSpPr>
          <p:cNvPr id="154" name="Google Shape;154;p15"/>
          <p:cNvSpPr txBox="1"/>
          <p:nvPr>
            <p:ph type="body" idx="1"/>
          </p:nvPr>
        </p:nvSpPr>
        <p:spPr>
          <a:xfrm>
            <a:off x="727650" y="2273551"/>
            <a:ext cx="5098500" cy="2327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Char char="●"/>
            </a:pPr>
            <a:r>
              <a:rPr lang="en-US" sz="1400" b="1">
                <a:solidFill>
                  <a:schemeClr val="dk2"/>
                </a:solidFill>
              </a:rPr>
              <a:t>Binary Image,</a:t>
            </a:r>
            <a:r>
              <a:rPr lang="en-US" sz="1400">
                <a:solidFill>
                  <a:schemeClr val="dk2"/>
                </a:solidFill>
              </a:rPr>
              <a:t> converting the image into grayscale and thresholding it to obtain a binary image.</a:t>
            </a:r>
            <a:endParaRPr sz="1400">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Connected Components</a:t>
            </a:r>
            <a:r>
              <a:rPr lang="en-US" sz="1400">
                <a:solidFill>
                  <a:schemeClr val="dk2"/>
                </a:solidFill>
              </a:rPr>
              <a:t>: Find all white regions in the image</a:t>
            </a:r>
            <a:endParaRPr sz="1400">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Largest Quadrangle: </a:t>
            </a:r>
            <a:r>
              <a:rPr lang="en-US" sz="1400">
                <a:solidFill>
                  <a:schemeClr val="dk2"/>
                </a:solidFill>
              </a:rPr>
              <a:t>Select the largest white region</a:t>
            </a:r>
            <a:endParaRPr sz="1400">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Pattern Matching</a:t>
            </a:r>
            <a:r>
              <a:rPr lang="en-US" sz="1400">
                <a:solidFill>
                  <a:schemeClr val="dk2"/>
                </a:solidFill>
              </a:rPr>
              <a:t>: Inside the region, search for Circle, Cross or Quadrangle corners, in this order</a:t>
            </a:r>
            <a:endParaRPr sz="1400">
              <a:solidFill>
                <a:schemeClr val="dk2"/>
              </a:solidFill>
            </a:endParaRPr>
          </a:p>
          <a:p>
            <a:pPr marL="457200" lvl="0" indent="-317500" algn="l" rtl="0">
              <a:spcBef>
                <a:spcPts val="0"/>
              </a:spcBef>
              <a:spcAft>
                <a:spcPts val="0"/>
              </a:spcAft>
              <a:buClr>
                <a:schemeClr val="dk2"/>
              </a:buClr>
              <a:buSzPts val="1400"/>
              <a:buChar char="●"/>
            </a:pPr>
            <a:r>
              <a:rPr lang="en-US" sz="1400" b="1">
                <a:solidFill>
                  <a:schemeClr val="dk2"/>
                </a:solidFill>
              </a:rPr>
              <a:t>Outlier Filtering:</a:t>
            </a:r>
            <a:r>
              <a:rPr lang="en-US" sz="1400">
                <a:solidFill>
                  <a:schemeClr val="dk2"/>
                </a:solidFill>
              </a:rPr>
              <a:t> Apply RANSAC to the detected corners to reject spurious detections.</a:t>
            </a:r>
            <a:endParaRPr sz="1400">
              <a:solidFill>
                <a:schemeClr val="dk2"/>
              </a:solidFill>
            </a:endParaRPr>
          </a:p>
          <a:p>
            <a:pPr marL="0" lvl="0" indent="0" algn="l" rtl="0">
              <a:spcBef>
                <a:spcPts val="0"/>
              </a:spcBef>
              <a:spcAft>
                <a:spcPts val="0"/>
              </a:spcAft>
              <a:buNone/>
            </a:pPr>
            <a:endParaRPr>
              <a:solidFill>
                <a:schemeClr val="dk2"/>
              </a:solidFill>
            </a:endParaRPr>
          </a:p>
          <a:p>
            <a:pPr marL="457200" lvl="0" indent="0" algn="l" rtl="0">
              <a:spcBef>
                <a:spcPts val="0"/>
              </a:spcBef>
              <a:spcAft>
                <a:spcPts val="0"/>
              </a:spcAft>
              <a:buNone/>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Detection Debug Examples</a:t>
            </a:r>
            <a:endParaRPr lang="en-US"/>
          </a:p>
        </p:txBody>
      </p:sp>
      <p:sp>
        <p:nvSpPr>
          <p:cNvPr id="160" name="Google Shape;160;p16"/>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pic>
        <p:nvPicPr>
          <p:cNvPr id="161" name="Google Shape;161;p16"/>
          <p:cNvPicPr preferRelativeResize="0"/>
          <p:nvPr/>
        </p:nvPicPr>
        <p:blipFill>
          <a:blip r:embed="rId1"/>
          <a:stretch>
            <a:fillRect/>
          </a:stretch>
        </p:blipFill>
        <p:spPr>
          <a:xfrm>
            <a:off x="1998550" y="1397000"/>
            <a:ext cx="6144375" cy="3077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65" name="Shape 165"/>
        <p:cNvGrpSpPr/>
        <p:nvPr/>
      </p:nvGrpSpPr>
      <p:grpSpPr>
        <a:xfrm>
          <a:off x="0" y="0"/>
          <a:ext cx="0" cy="0"/>
          <a:chOff x="0" y="0"/>
          <a:chExt cx="0" cy="0"/>
        </a:xfrm>
      </p:grpSpPr>
      <p:sp>
        <p:nvSpPr>
          <p:cNvPr id="166" name="Google Shape;166;p17"/>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Adaptive Field-Of-View</a:t>
            </a:r>
            <a:endParaRPr lang="en-US"/>
          </a:p>
        </p:txBody>
      </p:sp>
      <p:sp>
        <p:nvSpPr>
          <p:cNvPr id="167" name="Google Shape;167;p17"/>
          <p:cNvSpPr txBox="1"/>
          <p:nvPr>
            <p:ph type="body" idx="1"/>
          </p:nvPr>
        </p:nvSpPr>
        <p:spPr>
          <a:xfrm>
            <a:off x="727650" y="1397000"/>
            <a:ext cx="7353900" cy="8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2"/>
                </a:solidFill>
              </a:rPr>
              <a:t>To prevent detection interruption and/or to reduce estimation error during final portion of the landing phase, we included an Adaptive Field-Of-View </a:t>
            </a:r>
            <a:r>
              <a:rPr lang="en-US" sz="1400">
                <a:solidFill>
                  <a:schemeClr val="dk2"/>
                </a:solidFill>
              </a:rPr>
              <a:t>which increases the FOV if the drone is too</a:t>
            </a:r>
            <a:endParaRPr sz="1400">
              <a:solidFill>
                <a:schemeClr val="dk2"/>
              </a:solidFill>
            </a:endParaRPr>
          </a:p>
          <a:p>
            <a:pPr marL="0" lvl="0" indent="0" algn="l" rtl="0">
              <a:spcBef>
                <a:spcPts val="0"/>
              </a:spcBef>
              <a:spcAft>
                <a:spcPts val="0"/>
              </a:spcAft>
              <a:buNone/>
            </a:pPr>
            <a:r>
              <a:rPr lang="en-US" sz="1400">
                <a:solidFill>
                  <a:schemeClr val="dk2"/>
                </a:solidFill>
              </a:rPr>
              <a:t>close to the ground.</a:t>
            </a:r>
            <a:endParaRPr sz="1400">
              <a:solidFill>
                <a:schemeClr val="dk2"/>
              </a:solidFill>
            </a:endParaRPr>
          </a:p>
          <a:p>
            <a:pPr marL="457200" lvl="0" indent="0" algn="l" rtl="0">
              <a:spcBef>
                <a:spcPts val="0"/>
              </a:spcBef>
              <a:spcAft>
                <a:spcPts val="0"/>
              </a:spcAft>
              <a:buNone/>
            </a:pPr>
          </a:p>
        </p:txBody>
      </p:sp>
      <p:sp>
        <p:nvSpPr>
          <p:cNvPr id="168" name="Google Shape;168;p17"/>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pic>
        <p:nvPicPr>
          <p:cNvPr id="169" name="Google Shape;169;p17"/>
          <p:cNvPicPr preferRelativeResize="0"/>
          <p:nvPr/>
        </p:nvPicPr>
        <p:blipFill>
          <a:blip r:embed="rId1"/>
          <a:stretch>
            <a:fillRect/>
          </a:stretch>
        </p:blipFill>
        <p:spPr>
          <a:xfrm>
            <a:off x="2893850" y="2061875"/>
            <a:ext cx="4362600" cy="1019750"/>
          </a:xfrm>
          <a:prstGeom prst="rect">
            <a:avLst/>
          </a:prstGeom>
          <a:noFill/>
          <a:ln>
            <a:noFill/>
          </a:ln>
        </p:spPr>
      </p:pic>
      <p:sp>
        <p:nvSpPr>
          <p:cNvPr id="170" name="Google Shape;170;p17"/>
          <p:cNvSpPr txBox="1"/>
          <p:nvPr>
            <p:ph type="body" idx="1"/>
          </p:nvPr>
        </p:nvSpPr>
        <p:spPr>
          <a:xfrm>
            <a:off x="727650" y="3164250"/>
            <a:ext cx="7353900" cy="8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2"/>
                </a:solidFill>
              </a:rPr>
              <a:t>Where between an altitude of 0,3 m and 0,6 m we linearly interpolate between the two saturation</a:t>
            </a:r>
            <a:endParaRPr sz="1400">
              <a:solidFill>
                <a:schemeClr val="dk2"/>
              </a:solidFill>
            </a:endParaRPr>
          </a:p>
          <a:p>
            <a:pPr marL="0" lvl="0" indent="0" algn="l" rtl="0">
              <a:spcBef>
                <a:spcPts val="0"/>
              </a:spcBef>
              <a:spcAft>
                <a:spcPts val="0"/>
              </a:spcAft>
              <a:buNone/>
            </a:pPr>
            <a:r>
              <a:rPr lang="en-US" sz="1400">
                <a:solidFill>
                  <a:schemeClr val="dk2"/>
                </a:solidFill>
              </a:rPr>
              <a:t>values.</a:t>
            </a:r>
            <a:endParaRPr sz="1400">
              <a:solidFill>
                <a:schemeClr val="dk2"/>
              </a:solidFill>
            </a:endParaRPr>
          </a:p>
          <a:p>
            <a:pPr marL="457200" lvl="0" indent="0" algn="l" rtl="0">
              <a:spcBef>
                <a:spcPts val="0"/>
              </a:spcBef>
              <a:spcAft>
                <a:spcPts val="0"/>
              </a:spcAft>
              <a:buNone/>
            </a:pPr>
          </a:p>
        </p:txBody>
      </p:sp>
      <p:pic>
        <p:nvPicPr>
          <p:cNvPr id="171" name="Google Shape;171;p17"/>
          <p:cNvPicPr preferRelativeResize="0"/>
          <p:nvPr/>
        </p:nvPicPr>
        <p:blipFill>
          <a:blip r:embed="rId2"/>
          <a:stretch>
            <a:fillRect/>
          </a:stretch>
        </p:blipFill>
        <p:spPr>
          <a:xfrm>
            <a:off x="2339414" y="3654150"/>
            <a:ext cx="5471471" cy="335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3D Position Recovery </a:t>
            </a:r>
            <a:r>
              <a:rPr lang="en-US"/>
              <a:t>(1/2),</a:t>
            </a:r>
            <a:r>
              <a:rPr lang="en-US"/>
              <a:t> PnP</a:t>
            </a:r>
            <a:endParaRPr lang="en-US"/>
          </a:p>
        </p:txBody>
      </p:sp>
      <p:sp>
        <p:nvSpPr>
          <p:cNvPr id="177" name="Google Shape;177;p18"/>
          <p:cNvSpPr txBox="1"/>
          <p:nvPr>
            <p:ph type="body" idx="1"/>
          </p:nvPr>
        </p:nvSpPr>
        <p:spPr>
          <a:xfrm>
            <a:off x="727650" y="1397000"/>
            <a:ext cx="5098500" cy="62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2"/>
                </a:solidFill>
              </a:rPr>
              <a:t>Once four corners are detected, we solve the </a:t>
            </a:r>
            <a:r>
              <a:rPr lang="en-US" sz="1400" b="1">
                <a:solidFill>
                  <a:schemeClr val="dk2"/>
                </a:solidFill>
              </a:rPr>
              <a:t>Perspective-n-Point (PnP)</a:t>
            </a:r>
            <a:r>
              <a:rPr lang="en-US" sz="1400">
                <a:solidFill>
                  <a:schemeClr val="dk2"/>
                </a:solidFill>
              </a:rPr>
              <a:t> problem to recover the platform's 3D pose, knowing tag size.</a:t>
            </a:r>
            <a:endParaRPr lang="en-US" sz="1400">
              <a:solidFill>
                <a:schemeClr val="dk2"/>
              </a:solidFill>
            </a:endParaRPr>
          </a:p>
        </p:txBody>
      </p:sp>
      <p:sp>
        <p:nvSpPr>
          <p:cNvPr id="178" name="Google Shape;178;p18"/>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9" name="Google Shape;179;p18"/>
          <p:cNvSpPr txBox="1"/>
          <p:nvPr>
            <p:ph type="body" idx="1"/>
          </p:nvPr>
        </p:nvSpPr>
        <p:spPr>
          <a:xfrm>
            <a:off x="4037475" y="1971000"/>
            <a:ext cx="4777500" cy="25113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sz="1400" b="1">
                <a:solidFill>
                  <a:srgbClr val="000000"/>
                </a:solidFill>
                <a:latin typeface="Arial" panose="020B0604020202020204"/>
                <a:ea typeface="Arial" panose="020B0604020202020204"/>
                <a:cs typeface="Arial" panose="020B0604020202020204"/>
                <a:sym typeface="Arial" panose="020B0604020202020204"/>
              </a:rPr>
              <a:t>PnP Pipeline:</a:t>
            </a:r>
            <a:endParaRPr sz="1400" b="1">
              <a:solidFill>
                <a:srgbClr val="000000"/>
              </a:solidFill>
              <a:latin typeface="Arial" panose="020B0604020202020204"/>
              <a:ea typeface="Arial" panose="020B0604020202020204"/>
              <a:cs typeface="Arial" panose="020B0604020202020204"/>
              <a:sym typeface="Arial" panose="020B0604020202020204"/>
            </a:endParaRPr>
          </a:p>
          <a:p>
            <a:pPr marL="457200" lvl="0" indent="-317500" algn="l" rtl="0">
              <a:spcBef>
                <a:spcPts val="1200"/>
              </a:spcBef>
              <a:spcAft>
                <a:spcPts val="0"/>
              </a:spcAft>
              <a:buClr>
                <a:srgbClr val="000000"/>
              </a:buClr>
              <a:buSzPts val="1400"/>
              <a:buFont typeface="Arial" panose="020B0604020202020204"/>
              <a:buChar char="●"/>
            </a:pPr>
            <a:r>
              <a:rPr lang="en-US" sz="1400" b="1">
                <a:solidFill>
                  <a:srgbClr val="000000"/>
                </a:solidFill>
                <a:latin typeface="Arial" panose="020B0604020202020204"/>
                <a:ea typeface="Arial" panose="020B0604020202020204"/>
                <a:cs typeface="Arial" panose="020B0604020202020204"/>
                <a:sym typeface="Arial" panose="020B0604020202020204"/>
              </a:rPr>
              <a:t>Homography Computation</a:t>
            </a:r>
            <a:r>
              <a:rPr lang="en-US" sz="1400">
                <a:solidFill>
                  <a:srgbClr val="000000"/>
                </a:solidFill>
                <a:latin typeface="Arial" panose="020B0604020202020204"/>
                <a:ea typeface="Arial" panose="020B0604020202020204"/>
                <a:cs typeface="Arial" panose="020B0604020202020204"/>
                <a:sym typeface="Arial" panose="020B0604020202020204"/>
              </a:rPr>
              <a:t>: Compute homography H from tag corners to normalized image coordinates</a:t>
            </a:r>
            <a:endParaRPr sz="1400">
              <a:solidFill>
                <a:srgbClr val="000000"/>
              </a:solidFill>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Clr>
                <a:srgbClr val="000000"/>
              </a:buClr>
              <a:buSzPts val="1400"/>
              <a:buFont typeface="Arial" panose="020B0604020202020204"/>
              <a:buChar char="●"/>
            </a:pPr>
            <a:r>
              <a:rPr lang="en-US" sz="1400" b="1">
                <a:solidFill>
                  <a:srgbClr val="000000"/>
                </a:solidFill>
                <a:latin typeface="Arial" panose="020B0604020202020204"/>
                <a:ea typeface="Arial" panose="020B0604020202020204"/>
                <a:cs typeface="Arial" panose="020B0604020202020204"/>
                <a:sym typeface="Arial" panose="020B0604020202020204"/>
              </a:rPr>
              <a:t>Decomposition</a:t>
            </a:r>
            <a:r>
              <a:rPr lang="en-US" sz="1400">
                <a:solidFill>
                  <a:srgbClr val="000000"/>
                </a:solidFill>
                <a:latin typeface="Arial" panose="020B0604020202020204"/>
                <a:ea typeface="Arial" panose="020B0604020202020204"/>
                <a:cs typeface="Arial" panose="020B0604020202020204"/>
                <a:sym typeface="Arial" panose="020B0604020202020204"/>
              </a:rPr>
              <a:t>: Extract rotation R and translation t from H = λ[r₁ r₂ t]</a:t>
            </a:r>
            <a:endParaRPr sz="1400">
              <a:solidFill>
                <a:srgbClr val="000000"/>
              </a:solidFill>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Clr>
                <a:srgbClr val="000000"/>
              </a:buClr>
              <a:buSzPts val="1400"/>
              <a:buFont typeface="Arial" panose="020B0604020202020204"/>
              <a:buChar char="●"/>
            </a:pPr>
            <a:r>
              <a:rPr lang="en-US" sz="1400" b="1">
                <a:solidFill>
                  <a:srgbClr val="000000"/>
                </a:solidFill>
                <a:latin typeface="Arial" panose="020B0604020202020204"/>
                <a:ea typeface="Arial" panose="020B0604020202020204"/>
                <a:cs typeface="Arial" panose="020B0604020202020204"/>
                <a:sym typeface="Arial" panose="020B0604020202020204"/>
              </a:rPr>
              <a:t>SVD Orthogonalization</a:t>
            </a:r>
            <a:r>
              <a:rPr lang="en-US" sz="1400">
                <a:solidFill>
                  <a:srgbClr val="000000"/>
                </a:solidFill>
                <a:latin typeface="Arial" panose="020B0604020202020204"/>
                <a:ea typeface="Arial" panose="020B0604020202020204"/>
                <a:cs typeface="Arial" panose="020B0604020202020204"/>
                <a:sym typeface="Arial" panose="020B0604020202020204"/>
              </a:rPr>
              <a:t>: Enforce R as proper rotation matrix via SVD, fixing possible numerical errors</a:t>
            </a:r>
            <a:endParaRPr sz="1400">
              <a:solidFill>
                <a:srgbClr val="000000"/>
              </a:solidFill>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Clr>
                <a:srgbClr val="000000"/>
              </a:buClr>
              <a:buSzPts val="1400"/>
              <a:buFont typeface="Arial" panose="020B0604020202020204"/>
              <a:buChar char="●"/>
            </a:pPr>
            <a:r>
              <a:rPr lang="en-US" sz="1400" b="1">
                <a:solidFill>
                  <a:srgbClr val="000000"/>
                </a:solidFill>
                <a:latin typeface="Arial" panose="020B0604020202020204"/>
                <a:ea typeface="Arial" panose="020B0604020202020204"/>
                <a:cs typeface="Arial" panose="020B0604020202020204"/>
                <a:sym typeface="Arial" panose="020B0604020202020204"/>
              </a:rPr>
              <a:t>Validation</a:t>
            </a:r>
            <a:r>
              <a:rPr lang="en-US" sz="1400">
                <a:solidFill>
                  <a:srgbClr val="000000"/>
                </a:solidFill>
                <a:latin typeface="Arial" panose="020B0604020202020204"/>
                <a:ea typeface="Arial" panose="020B0604020202020204"/>
                <a:cs typeface="Arial" panose="020B0604020202020204"/>
                <a:sym typeface="Arial" panose="020B0604020202020204"/>
              </a:rPr>
              <a:t>: Verify positive depth (Z &gt; 0), reasonable range and other red flags for debugging</a:t>
            </a:r>
            <a:endParaRPr sz="1400">
              <a:solidFill>
                <a:schemeClr val="dk2"/>
              </a:solidFill>
            </a:endParaRPr>
          </a:p>
          <a:p>
            <a:pPr marL="0" lvl="0" indent="0" algn="l" rtl="0">
              <a:spcBef>
                <a:spcPts val="1200"/>
              </a:spcBef>
              <a:spcAft>
                <a:spcPts val="0"/>
              </a:spcAft>
              <a:buNone/>
            </a:pPr>
            <a:endParaRPr>
              <a:solidFill>
                <a:schemeClr val="dk2"/>
              </a:solidFill>
            </a:endParaRPr>
          </a:p>
          <a:p>
            <a:pPr marL="457200" lvl="0" indent="0" algn="l" rtl="0">
              <a:spcBef>
                <a:spcPts val="0"/>
              </a:spcBef>
              <a:spcAft>
                <a:spcPts val="0"/>
              </a:spcAft>
              <a:buNone/>
            </a:pPr>
          </a:p>
        </p:txBody>
      </p:sp>
      <p:pic>
        <p:nvPicPr>
          <p:cNvPr id="180" name="Google Shape;180;p18"/>
          <p:cNvPicPr preferRelativeResize="0"/>
          <p:nvPr/>
        </p:nvPicPr>
        <p:blipFill rotWithShape="1">
          <a:blip r:embed="rId1"/>
          <a:srcRect l="7423" t="9289" r="7737" b="9084"/>
          <a:stretch>
            <a:fillRect/>
          </a:stretch>
        </p:blipFill>
        <p:spPr>
          <a:xfrm>
            <a:off x="727650" y="2112138"/>
            <a:ext cx="3309825" cy="2229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3D Position Recovery (2/2), Coordinate Transform</a:t>
            </a:r>
            <a:endParaRPr lang="en-US"/>
          </a:p>
        </p:txBody>
      </p:sp>
      <p:sp>
        <p:nvSpPr>
          <p:cNvPr id="186" name="Google Shape;186;p19"/>
          <p:cNvSpPr txBox="1"/>
          <p:nvPr>
            <p:ph type="body" idx="1"/>
          </p:nvPr>
        </p:nvSpPr>
        <p:spPr>
          <a:xfrm>
            <a:off x="727650" y="1397000"/>
            <a:ext cx="7571700" cy="62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2"/>
                </a:solidFill>
              </a:rPr>
              <a:t>After having obtained the Platform position wrt to the </a:t>
            </a:r>
            <a:r>
              <a:rPr lang="en-US" sz="1400">
                <a:solidFill>
                  <a:schemeClr val="dk2"/>
                </a:solidFill>
              </a:rPr>
              <a:t>camera we need to obtain the 3D position in the world reference frame, detection and calculations run at </a:t>
            </a:r>
            <a:r>
              <a:rPr lang="en-US" sz="1400" b="1">
                <a:solidFill>
                  <a:schemeClr val="dk2"/>
                </a:solidFill>
              </a:rPr>
              <a:t>20 Hz. </a:t>
            </a:r>
            <a:r>
              <a:rPr lang="en-US" sz="1400">
                <a:solidFill>
                  <a:schemeClr val="dk2"/>
                </a:solidFill>
              </a:rPr>
              <a:t>In sequence:</a:t>
            </a:r>
            <a:endParaRPr lang="en-US" sz="1400">
              <a:solidFill>
                <a:schemeClr val="dk2"/>
              </a:solidFill>
            </a:endParaRPr>
          </a:p>
        </p:txBody>
      </p:sp>
      <p:sp>
        <p:nvSpPr>
          <p:cNvPr id="187" name="Google Shape;187;p19"/>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pic>
        <p:nvPicPr>
          <p:cNvPr id="188" name="Google Shape;188;p19"/>
          <p:cNvPicPr preferRelativeResize="0"/>
          <p:nvPr/>
        </p:nvPicPr>
        <p:blipFill rotWithShape="1">
          <a:blip r:embed="rId1"/>
          <a:srcRect t="11793"/>
          <a:stretch>
            <a:fillRect/>
          </a:stretch>
        </p:blipFill>
        <p:spPr>
          <a:xfrm>
            <a:off x="1025700" y="2162825"/>
            <a:ext cx="6975601" cy="944075"/>
          </a:xfrm>
          <a:prstGeom prst="rect">
            <a:avLst/>
          </a:prstGeom>
          <a:noFill/>
          <a:ln>
            <a:noFill/>
          </a:ln>
        </p:spPr>
      </p:pic>
      <p:pic>
        <p:nvPicPr>
          <p:cNvPr id="189" name="Google Shape;189;p19"/>
          <p:cNvPicPr preferRelativeResize="0"/>
          <p:nvPr/>
        </p:nvPicPr>
        <p:blipFill>
          <a:blip r:embed="rId2"/>
          <a:stretch>
            <a:fillRect/>
          </a:stretch>
        </p:blipFill>
        <p:spPr>
          <a:xfrm>
            <a:off x="844800" y="3662675"/>
            <a:ext cx="7571549" cy="387000"/>
          </a:xfrm>
          <a:prstGeom prst="rect">
            <a:avLst/>
          </a:prstGeom>
          <a:noFill/>
          <a:ln>
            <a:noFill/>
          </a:ln>
        </p:spPr>
      </p:pic>
      <p:sp>
        <p:nvSpPr>
          <p:cNvPr id="190" name="Google Shape;190;p19"/>
          <p:cNvSpPr txBox="1"/>
          <p:nvPr/>
        </p:nvSpPr>
        <p:spPr>
          <a:xfrm>
            <a:off x="786225" y="31572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a:solidFill>
                  <a:schemeClr val="dk2"/>
                </a:solidFill>
                <a:latin typeface="Catamaran"/>
                <a:ea typeface="Catamaran"/>
                <a:cs typeface="Catamaran"/>
                <a:sym typeface="Catamaran"/>
              </a:rPr>
              <a:t>Mathematically:</a:t>
            </a:r>
            <a:endParaRPr sz="1300" b="1">
              <a:solidFill>
                <a:schemeClr val="accent1"/>
              </a:solidFill>
              <a:latin typeface="Catamaran"/>
              <a:ea typeface="Catamaran"/>
              <a:cs typeface="Catamaran"/>
              <a:sym typeface="Catamar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94" name="Shape 194"/>
        <p:cNvGrpSpPr/>
        <p:nvPr/>
      </p:nvGrpSpPr>
      <p:grpSpPr>
        <a:xfrm>
          <a:off x="0" y="0"/>
          <a:ext cx="0" cy="0"/>
          <a:chOff x="0" y="0"/>
          <a:chExt cx="0" cy="0"/>
        </a:xfrm>
      </p:grpSpPr>
      <p:sp>
        <p:nvSpPr>
          <p:cNvPr id="195" name="Google Shape;195;p20"/>
          <p:cNvSpPr txBox="1"/>
          <p:nvPr>
            <p:ph type="body" idx="1"/>
          </p:nvPr>
        </p:nvSpPr>
        <p:spPr>
          <a:xfrm>
            <a:off x="902175" y="3838796"/>
            <a:ext cx="5655000" cy="282900"/>
          </a:xfrm>
          <a:prstGeom prst="rect">
            <a:avLst/>
          </a:prstGeom>
        </p:spPr>
        <p:txBody>
          <a:bodyPr spcFirstLastPara="1" wrap="square" lIns="77200" tIns="77200" rIns="77200" bIns="77200" anchor="t" anchorCtr="0">
            <a:noAutofit/>
          </a:bodyPr>
          <a:lstStyle/>
          <a:p>
            <a:pPr marL="0" marR="0" lvl="0" indent="0" algn="l" rtl="0">
              <a:lnSpc>
                <a:spcPct val="115000"/>
              </a:lnSpc>
              <a:spcBef>
                <a:spcPts val="0"/>
              </a:spcBef>
              <a:spcAft>
                <a:spcPts val="0"/>
              </a:spcAft>
              <a:buNone/>
            </a:pPr>
            <a:r>
              <a:rPr lang="en-US" sz="1180" b="1">
                <a:solidFill>
                  <a:schemeClr val="dk2"/>
                </a:solidFill>
              </a:rPr>
              <a:t>Prediction Step</a:t>
            </a:r>
            <a:r>
              <a:rPr lang="en-US" sz="1180" b="1">
                <a:solidFill>
                  <a:schemeClr val="dk2"/>
                </a:solidFill>
              </a:rPr>
              <a:t>:			Measurement Update:</a:t>
            </a:r>
            <a:endParaRPr sz="1180" b="1">
              <a:solidFill>
                <a:schemeClr val="dk2"/>
              </a:solidFill>
            </a:endParaRPr>
          </a:p>
          <a:p>
            <a:pPr marL="0" marR="0" lvl="0" indent="0" algn="l" rtl="0">
              <a:lnSpc>
                <a:spcPct val="115000"/>
              </a:lnSpc>
              <a:spcBef>
                <a:spcPts val="0"/>
              </a:spcBef>
              <a:spcAft>
                <a:spcPts val="0"/>
              </a:spcAft>
              <a:buNone/>
            </a:pPr>
            <a:r>
              <a:rPr lang="en-US" sz="1180" b="1">
                <a:solidFill>
                  <a:schemeClr val="dk2"/>
                </a:solidFill>
              </a:rPr>
              <a:t>									</a:t>
            </a:r>
            <a:endParaRPr sz="930" b="1">
              <a:solidFill>
                <a:schemeClr val="dk2"/>
              </a:solidFill>
            </a:endParaRPr>
          </a:p>
        </p:txBody>
      </p:sp>
      <p:sp>
        <p:nvSpPr>
          <p:cNvPr id="196" name="Google Shape;196;p20"/>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Kalman Filter for Platform prediction </a:t>
            </a:r>
            <a:endParaRPr lang="en-US"/>
          </a:p>
        </p:txBody>
      </p:sp>
      <p:pic>
        <p:nvPicPr>
          <p:cNvPr id="197" name="Google Shape;197;p20"/>
          <p:cNvPicPr preferRelativeResize="0"/>
          <p:nvPr/>
        </p:nvPicPr>
        <p:blipFill>
          <a:blip r:embed="rId1"/>
          <a:stretch>
            <a:fillRect/>
          </a:stretch>
        </p:blipFill>
        <p:spPr>
          <a:xfrm>
            <a:off x="2169063" y="2407976"/>
            <a:ext cx="1125888" cy="160841"/>
          </a:xfrm>
          <a:prstGeom prst="rect">
            <a:avLst/>
          </a:prstGeom>
          <a:noFill/>
          <a:ln>
            <a:noFill/>
          </a:ln>
        </p:spPr>
      </p:pic>
      <p:sp>
        <p:nvSpPr>
          <p:cNvPr id="198" name="Google Shape;198;p20"/>
          <p:cNvSpPr txBox="1"/>
          <p:nvPr>
            <p:ph type="body" idx="1"/>
          </p:nvPr>
        </p:nvSpPr>
        <p:spPr>
          <a:xfrm>
            <a:off x="727650" y="1336150"/>
            <a:ext cx="7800900" cy="8424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US" sz="1400">
                <a:solidFill>
                  <a:schemeClr val="dk2"/>
                </a:solidFill>
              </a:rPr>
              <a:t>We use a </a:t>
            </a:r>
            <a:r>
              <a:rPr lang="en-US" sz="1400" b="1">
                <a:solidFill>
                  <a:schemeClr val="dk2"/>
                </a:solidFill>
              </a:rPr>
              <a:t>Kalman Filter</a:t>
            </a:r>
            <a:r>
              <a:rPr lang="en-US" sz="1400">
                <a:solidFill>
                  <a:schemeClr val="dk2"/>
                </a:solidFill>
              </a:rPr>
              <a:t> to smooth noisy and flickery camera detections and to estimate platform velocity, it does not perform a measurement update in case of </a:t>
            </a:r>
            <a:r>
              <a:rPr lang="en-US" sz="1400" b="1">
                <a:solidFill>
                  <a:schemeClr val="dk2"/>
                </a:solidFill>
              </a:rPr>
              <a:t>too large attitude updates</a:t>
            </a:r>
            <a:r>
              <a:rPr lang="en-US" sz="1400">
                <a:solidFill>
                  <a:schemeClr val="dk2"/>
                </a:solidFill>
              </a:rPr>
              <a:t> (Attitude Gating) or in case of a </a:t>
            </a:r>
            <a:r>
              <a:rPr lang="en-US" sz="1400" b="1">
                <a:solidFill>
                  <a:schemeClr val="dk2"/>
                </a:solidFill>
              </a:rPr>
              <a:t>failed detection frame</a:t>
            </a:r>
            <a:r>
              <a:rPr lang="en-US" sz="1400">
                <a:solidFill>
                  <a:schemeClr val="dk2"/>
                </a:solidFill>
              </a:rPr>
              <a:t>.</a:t>
            </a:r>
            <a:endParaRPr sz="1400">
              <a:solidFill>
                <a:schemeClr val="dk2"/>
              </a:solidFill>
            </a:endParaRPr>
          </a:p>
        </p:txBody>
      </p:sp>
      <p:sp>
        <p:nvSpPr>
          <p:cNvPr id="199" name="Google Shape;199;p20"/>
          <p:cNvSpPr txBox="1"/>
          <p:nvPr>
            <p:ph type="body" idx="1"/>
          </p:nvPr>
        </p:nvSpPr>
        <p:spPr>
          <a:xfrm>
            <a:off x="902175" y="2324675"/>
            <a:ext cx="5854500" cy="282900"/>
          </a:xfrm>
          <a:prstGeom prst="rect">
            <a:avLst/>
          </a:prstGeom>
        </p:spPr>
        <p:txBody>
          <a:bodyPr spcFirstLastPara="1" wrap="square" lIns="77200" tIns="77200" rIns="77200" bIns="77200" anchor="t" anchorCtr="0">
            <a:noAutofit/>
          </a:bodyPr>
          <a:lstStyle/>
          <a:p>
            <a:pPr marL="0" marR="0" lvl="0" indent="0" algn="l" rtl="0">
              <a:lnSpc>
                <a:spcPct val="115000"/>
              </a:lnSpc>
              <a:spcBef>
                <a:spcPts val="0"/>
              </a:spcBef>
              <a:spcAft>
                <a:spcPts val="0"/>
              </a:spcAft>
              <a:buNone/>
            </a:pPr>
            <a:r>
              <a:rPr lang="en-US" sz="1180" b="1">
                <a:solidFill>
                  <a:schemeClr val="dk2"/>
                </a:solidFill>
              </a:rPr>
              <a:t>Motion Model:			</a:t>
            </a:r>
            <a:r>
              <a:rPr lang="en-US" sz="1180">
                <a:solidFill>
                  <a:schemeClr val="dk2"/>
                </a:solidFill>
              </a:rPr>
              <a:t>Where the </a:t>
            </a:r>
            <a:r>
              <a:rPr lang="en-US" sz="1180" b="1">
                <a:solidFill>
                  <a:schemeClr val="dk2"/>
                </a:solidFill>
              </a:rPr>
              <a:t>state-transition matrix</a:t>
            </a:r>
            <a:r>
              <a:rPr lang="en-US" sz="1180">
                <a:solidFill>
                  <a:schemeClr val="dk2"/>
                </a:solidFill>
              </a:rPr>
              <a:t> is:</a:t>
            </a:r>
            <a:endParaRPr sz="1180">
              <a:solidFill>
                <a:schemeClr val="dk2"/>
              </a:solidFill>
            </a:endParaRPr>
          </a:p>
        </p:txBody>
      </p:sp>
      <p:pic>
        <p:nvPicPr>
          <p:cNvPr id="200" name="Google Shape;200;p20"/>
          <p:cNvPicPr preferRelativeResize="0"/>
          <p:nvPr/>
        </p:nvPicPr>
        <p:blipFill>
          <a:blip r:embed="rId2"/>
          <a:stretch>
            <a:fillRect/>
          </a:stretch>
        </p:blipFill>
        <p:spPr>
          <a:xfrm>
            <a:off x="6968780" y="2261700"/>
            <a:ext cx="1447570" cy="514692"/>
          </a:xfrm>
          <a:prstGeom prst="rect">
            <a:avLst/>
          </a:prstGeom>
          <a:noFill/>
          <a:ln>
            <a:noFill/>
          </a:ln>
        </p:spPr>
      </p:pic>
      <p:sp>
        <p:nvSpPr>
          <p:cNvPr id="201" name="Google Shape;201;p20"/>
          <p:cNvSpPr txBox="1"/>
          <p:nvPr>
            <p:ph type="body" idx="1"/>
          </p:nvPr>
        </p:nvSpPr>
        <p:spPr>
          <a:xfrm>
            <a:off x="902175" y="2906794"/>
            <a:ext cx="5655000" cy="282900"/>
          </a:xfrm>
          <a:prstGeom prst="rect">
            <a:avLst/>
          </a:prstGeom>
        </p:spPr>
        <p:txBody>
          <a:bodyPr spcFirstLastPara="1" wrap="square" lIns="77200" tIns="77200" rIns="77200" bIns="77200" anchor="t" anchorCtr="0">
            <a:noAutofit/>
          </a:bodyPr>
          <a:lstStyle/>
          <a:p>
            <a:pPr marL="0" marR="0" lvl="0" indent="0" algn="l" rtl="0">
              <a:lnSpc>
                <a:spcPct val="115000"/>
              </a:lnSpc>
              <a:spcBef>
                <a:spcPts val="0"/>
              </a:spcBef>
              <a:spcAft>
                <a:spcPts val="0"/>
              </a:spcAft>
              <a:buNone/>
            </a:pPr>
            <a:r>
              <a:rPr lang="en-US" sz="1180" b="1">
                <a:solidFill>
                  <a:schemeClr val="dk2"/>
                </a:solidFill>
              </a:rPr>
              <a:t>Measurement</a:t>
            </a:r>
            <a:r>
              <a:rPr lang="en-US" sz="1180" b="1">
                <a:solidFill>
                  <a:schemeClr val="dk2"/>
                </a:solidFill>
              </a:rPr>
              <a:t>:			Measurement Matrix:</a:t>
            </a:r>
            <a:endParaRPr sz="1180" b="1">
              <a:solidFill>
                <a:schemeClr val="dk2"/>
              </a:solidFill>
            </a:endParaRPr>
          </a:p>
        </p:txBody>
      </p:sp>
      <p:pic>
        <p:nvPicPr>
          <p:cNvPr id="202" name="Google Shape;202;p20"/>
          <p:cNvPicPr preferRelativeResize="0"/>
          <p:nvPr/>
        </p:nvPicPr>
        <p:blipFill>
          <a:blip r:embed="rId3"/>
          <a:stretch>
            <a:fillRect/>
          </a:stretch>
        </p:blipFill>
        <p:spPr>
          <a:xfrm>
            <a:off x="2169063" y="2927628"/>
            <a:ext cx="1761210" cy="189377"/>
          </a:xfrm>
          <a:prstGeom prst="rect">
            <a:avLst/>
          </a:prstGeom>
          <a:noFill/>
          <a:ln>
            <a:noFill/>
          </a:ln>
        </p:spPr>
      </p:pic>
      <p:pic>
        <p:nvPicPr>
          <p:cNvPr id="203" name="Google Shape;203;p20"/>
          <p:cNvPicPr preferRelativeResize="0"/>
          <p:nvPr/>
        </p:nvPicPr>
        <p:blipFill>
          <a:blip r:embed="rId4"/>
          <a:stretch>
            <a:fillRect/>
          </a:stretch>
        </p:blipFill>
        <p:spPr>
          <a:xfrm>
            <a:off x="6968780" y="2859661"/>
            <a:ext cx="1190224" cy="257346"/>
          </a:xfrm>
          <a:prstGeom prst="rect">
            <a:avLst/>
          </a:prstGeom>
          <a:noFill/>
          <a:ln>
            <a:noFill/>
          </a:ln>
        </p:spPr>
      </p:pic>
      <p:pic>
        <p:nvPicPr>
          <p:cNvPr id="204" name="Google Shape;204;p20"/>
          <p:cNvPicPr preferRelativeResize="0"/>
          <p:nvPr/>
        </p:nvPicPr>
        <p:blipFill>
          <a:blip r:embed="rId5"/>
          <a:stretch>
            <a:fillRect/>
          </a:stretch>
        </p:blipFill>
        <p:spPr>
          <a:xfrm>
            <a:off x="2169063" y="3786926"/>
            <a:ext cx="1761210" cy="474481"/>
          </a:xfrm>
          <a:prstGeom prst="rect">
            <a:avLst/>
          </a:prstGeom>
          <a:noFill/>
          <a:ln>
            <a:noFill/>
          </a:ln>
        </p:spPr>
      </p:pic>
      <p:pic>
        <p:nvPicPr>
          <p:cNvPr id="205" name="Google Shape;205;p20"/>
          <p:cNvPicPr preferRelativeResize="0"/>
          <p:nvPr/>
        </p:nvPicPr>
        <p:blipFill>
          <a:blip r:embed="rId6"/>
          <a:stretch>
            <a:fillRect/>
          </a:stretch>
        </p:blipFill>
        <p:spPr>
          <a:xfrm>
            <a:off x="6968765" y="3437054"/>
            <a:ext cx="1319183" cy="1086395"/>
          </a:xfrm>
          <a:prstGeom prst="rect">
            <a:avLst/>
          </a:prstGeom>
          <a:noFill/>
          <a:ln>
            <a:noFill/>
          </a:ln>
        </p:spPr>
      </p:pic>
      <p:pic>
        <p:nvPicPr>
          <p:cNvPr id="206" name="Google Shape;206;p20"/>
          <p:cNvPicPr preferRelativeResize="0"/>
          <p:nvPr/>
        </p:nvPicPr>
        <p:blipFill>
          <a:blip r:embed="rId7"/>
          <a:stretch>
            <a:fillRect/>
          </a:stretch>
        </p:blipFill>
        <p:spPr>
          <a:xfrm>
            <a:off x="727775" y="3200381"/>
            <a:ext cx="7800949" cy="168566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10" name="Shape 210"/>
        <p:cNvGrpSpPr/>
        <p:nvPr/>
      </p:nvGrpSpPr>
      <p:grpSpPr>
        <a:xfrm>
          <a:off x="0" y="0"/>
          <a:ext cx="0" cy="0"/>
          <a:chOff x="0" y="0"/>
          <a:chExt cx="0" cy="0"/>
        </a:xfrm>
      </p:grpSpPr>
      <p:sp>
        <p:nvSpPr>
          <p:cNvPr id="211" name="Google Shape;211;p21"/>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Experimental Validation</a:t>
            </a:r>
            <a:endParaRPr lang="en-US"/>
          </a:p>
        </p:txBody>
      </p:sp>
      <p:sp>
        <p:nvSpPr>
          <p:cNvPr id="212" name="Google Shape;212;p21"/>
          <p:cNvSpPr txBox="1"/>
          <p:nvPr>
            <p:ph type="body" idx="1"/>
          </p:nvPr>
        </p:nvSpPr>
        <p:spPr>
          <a:xfrm>
            <a:off x="727650" y="1622025"/>
            <a:ext cx="7688700" cy="31572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800">
                <a:solidFill>
                  <a:schemeClr val="dk2"/>
                </a:solidFill>
              </a:rPr>
              <a:t>Our architecture has been tested on 3 different scenarios:</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US" sz="1800">
                <a:solidFill>
                  <a:schemeClr val="dk2"/>
                </a:solidFill>
              </a:rPr>
              <a:t>Platform moving </a:t>
            </a:r>
            <a:r>
              <a:rPr lang="en-US" sz="1800" b="1">
                <a:solidFill>
                  <a:schemeClr val="dk2"/>
                </a:solidFill>
              </a:rPr>
              <a:t>linearly</a:t>
            </a:r>
            <a:endParaRPr sz="1800" b="1">
              <a:solidFill>
                <a:schemeClr val="dk2"/>
              </a:solidFill>
            </a:endParaRPr>
          </a:p>
          <a:p>
            <a:pPr marL="457200" lvl="0" indent="-342900" algn="l" rtl="0">
              <a:lnSpc>
                <a:spcPct val="150000"/>
              </a:lnSpc>
              <a:spcBef>
                <a:spcPts val="0"/>
              </a:spcBef>
              <a:spcAft>
                <a:spcPts val="0"/>
              </a:spcAft>
              <a:buClr>
                <a:schemeClr val="dk2"/>
              </a:buClr>
              <a:buSzPts val="1800"/>
              <a:buChar char="●"/>
            </a:pPr>
            <a:r>
              <a:rPr lang="en-US" sz="1800">
                <a:solidFill>
                  <a:schemeClr val="dk2"/>
                </a:solidFill>
              </a:rPr>
              <a:t>Platform moving in a </a:t>
            </a:r>
            <a:r>
              <a:rPr lang="en-US" sz="1800" b="1">
                <a:solidFill>
                  <a:schemeClr val="dk2"/>
                </a:solidFill>
              </a:rPr>
              <a:t>circle</a:t>
            </a:r>
            <a:endParaRPr sz="1800" b="1">
              <a:solidFill>
                <a:schemeClr val="dk2"/>
              </a:solidFill>
            </a:endParaRPr>
          </a:p>
          <a:p>
            <a:pPr marL="457200" lvl="0" indent="-342900" algn="l" rtl="0">
              <a:lnSpc>
                <a:spcPct val="150000"/>
              </a:lnSpc>
              <a:spcBef>
                <a:spcPts val="0"/>
              </a:spcBef>
              <a:spcAft>
                <a:spcPts val="0"/>
              </a:spcAft>
              <a:buClr>
                <a:schemeClr val="dk2"/>
              </a:buClr>
              <a:buSzPts val="1800"/>
              <a:buChar char="●"/>
            </a:pPr>
            <a:r>
              <a:rPr lang="en-US" sz="1800">
                <a:solidFill>
                  <a:schemeClr val="dk2"/>
                </a:solidFill>
              </a:rPr>
              <a:t>Platform performing an </a:t>
            </a:r>
            <a:r>
              <a:rPr lang="en-US" sz="1800" b="1">
                <a:solidFill>
                  <a:schemeClr val="dk2"/>
                </a:solidFill>
              </a:rPr>
              <a:t>Figure-8</a:t>
            </a:r>
            <a:r>
              <a:rPr lang="en-US" sz="1800">
                <a:solidFill>
                  <a:schemeClr val="dk2"/>
                </a:solidFill>
              </a:rPr>
              <a:t> trajectory</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US" sz="1800">
                <a:solidFill>
                  <a:schemeClr val="dk2"/>
                </a:solidFill>
              </a:rPr>
              <a:t>In each scenario the platform is moving at </a:t>
            </a:r>
            <a:r>
              <a:rPr lang="en-US" sz="1800" b="1">
                <a:solidFill>
                  <a:schemeClr val="dk2"/>
                </a:solidFill>
              </a:rPr>
              <a:t>constant velocity</a:t>
            </a:r>
            <a:r>
              <a:rPr lang="en-US" sz="1800">
                <a:solidFill>
                  <a:schemeClr val="dk2"/>
                </a:solidFill>
              </a:rPr>
              <a:t>.</a:t>
            </a:r>
            <a:endParaRPr sz="21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22"/>
          <p:cNvSpPr txBox="1"/>
          <p:nvPr>
            <p:ph type="title"/>
          </p:nvPr>
        </p:nvSpPr>
        <p:spPr>
          <a:xfrm>
            <a:off x="727650" y="220498"/>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Linear Platform Trajectory: Position tracking</a:t>
            </a:r>
            <a:endParaRPr lang="en-US"/>
          </a:p>
        </p:txBody>
      </p:sp>
      <p:pic>
        <p:nvPicPr>
          <p:cNvPr id="218" name="Google Shape;218;p22"/>
          <p:cNvPicPr preferRelativeResize="0"/>
          <p:nvPr/>
        </p:nvPicPr>
        <p:blipFill>
          <a:blip r:embed="rId1"/>
          <a:stretch>
            <a:fillRect/>
          </a:stretch>
        </p:blipFill>
        <p:spPr>
          <a:xfrm>
            <a:off x="258350" y="1323125"/>
            <a:ext cx="5805524" cy="2627000"/>
          </a:xfrm>
          <a:prstGeom prst="rect">
            <a:avLst/>
          </a:prstGeom>
          <a:noFill/>
          <a:ln>
            <a:noFill/>
          </a:ln>
        </p:spPr>
      </p:pic>
      <p:sp>
        <p:nvSpPr>
          <p:cNvPr id="219" name="Google Shape;219;p22"/>
          <p:cNvSpPr txBox="1"/>
          <p:nvPr/>
        </p:nvSpPr>
        <p:spPr>
          <a:xfrm>
            <a:off x="6063850" y="1228300"/>
            <a:ext cx="2290200" cy="29082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Catamaran"/>
              <a:buChar char="●"/>
            </a:pPr>
            <a:r>
              <a:rPr lang="en-US" b="1">
                <a:solidFill>
                  <a:schemeClr val="dk2"/>
                </a:solidFill>
                <a:latin typeface="Catamaran"/>
                <a:ea typeface="Catamaran"/>
                <a:cs typeface="Catamaran"/>
                <a:sym typeface="Catamaran"/>
              </a:rPr>
              <a:t>Takeoff</a:t>
            </a:r>
            <a:endParaRPr b="1">
              <a:solidFill>
                <a:schemeClr val="dk2"/>
              </a:solidFill>
              <a:latin typeface="Catamaran"/>
              <a:ea typeface="Catamaran"/>
              <a:cs typeface="Catamaran"/>
              <a:sym typeface="Catamaran"/>
            </a:endParaRPr>
          </a:p>
          <a:p>
            <a:pPr marL="457200" lvl="0" indent="0" algn="l" rtl="0">
              <a:spcBef>
                <a:spcPts val="0"/>
              </a:spcBef>
              <a:spcAft>
                <a:spcPts val="0"/>
              </a:spcAft>
              <a:buNone/>
            </a:pPr>
            <a:r>
              <a:rPr lang="en-US" b="1">
                <a:solidFill>
                  <a:schemeClr val="dk2"/>
                </a:solidFill>
                <a:latin typeface="Catamaran"/>
                <a:ea typeface="Catamaran"/>
                <a:cs typeface="Catamaran"/>
                <a:sym typeface="Catamaran"/>
              </a:rPr>
              <a:t>Hovering</a:t>
            </a:r>
            <a:endParaRPr b="1">
              <a:solidFill>
                <a:schemeClr val="dk2"/>
              </a:solidFill>
              <a:latin typeface="Catamaran"/>
              <a:ea typeface="Catamaran"/>
              <a:cs typeface="Catamaran"/>
              <a:sym typeface="Catamaran"/>
            </a:endParaRPr>
          </a:p>
          <a:p>
            <a:pPr marL="457200" lvl="0" indent="0" algn="l" rtl="0">
              <a:spcBef>
                <a:spcPts val="0"/>
              </a:spcBef>
              <a:spcAft>
                <a:spcPts val="0"/>
              </a:spcAft>
              <a:buNone/>
            </a:pPr>
            <a:r>
              <a:rPr lang="en-US" b="1">
                <a:solidFill>
                  <a:schemeClr val="dk2"/>
                </a:solidFill>
                <a:latin typeface="Catamaran"/>
                <a:ea typeface="Catamaran"/>
                <a:cs typeface="Catamaran"/>
                <a:sym typeface="Catamaran"/>
              </a:rPr>
              <a:t>Tracking</a:t>
            </a:r>
            <a:endParaRPr b="1">
              <a:solidFill>
                <a:schemeClr val="dk2"/>
              </a:solidFill>
              <a:latin typeface="Catamaran"/>
              <a:ea typeface="Catamaran"/>
              <a:cs typeface="Catamaran"/>
              <a:sym typeface="Catamaran"/>
            </a:endParaRPr>
          </a:p>
          <a:p>
            <a:pPr marL="457200" lvl="0" indent="0" algn="l" rtl="0">
              <a:lnSpc>
                <a:spcPct val="150000"/>
              </a:lnSpc>
              <a:spcBef>
                <a:spcPts val="0"/>
              </a:spcBef>
              <a:spcAft>
                <a:spcPts val="0"/>
              </a:spcAft>
              <a:buNone/>
            </a:pPr>
            <a:r>
              <a:rPr lang="en-US" b="1">
                <a:solidFill>
                  <a:schemeClr val="dk2"/>
                </a:solidFill>
                <a:latin typeface="Catamaran"/>
                <a:ea typeface="Catamaran"/>
                <a:cs typeface="Catamaran"/>
                <a:sym typeface="Catamaran"/>
              </a:rPr>
              <a:t>Landing</a:t>
            </a:r>
            <a:endParaRPr b="1">
              <a:solidFill>
                <a:schemeClr val="dk2"/>
              </a:solidFill>
              <a:latin typeface="Catamaran"/>
              <a:ea typeface="Catamaran"/>
              <a:cs typeface="Catamaran"/>
              <a:sym typeface="Catamaran"/>
            </a:endParaRPr>
          </a:p>
          <a:p>
            <a:pPr marL="457200" lvl="0" indent="-317500" algn="l" rtl="0">
              <a:lnSpc>
                <a:spcPct val="150000"/>
              </a:lnSpc>
              <a:spcBef>
                <a:spcPts val="0"/>
              </a:spcBef>
              <a:spcAft>
                <a:spcPts val="0"/>
              </a:spcAft>
              <a:buClr>
                <a:schemeClr val="dk2"/>
              </a:buClr>
              <a:buSzPts val="1400"/>
              <a:buFont typeface="Catamaran"/>
              <a:buChar char="●"/>
            </a:pPr>
            <a:r>
              <a:rPr lang="en-US" b="1">
                <a:solidFill>
                  <a:schemeClr val="dk2"/>
                </a:solidFill>
                <a:latin typeface="Catamaran"/>
                <a:ea typeface="Catamaran"/>
                <a:cs typeface="Catamaran"/>
                <a:sym typeface="Catamaran"/>
              </a:rPr>
              <a:t>Smooth tracking</a:t>
            </a:r>
            <a:endParaRPr b="1">
              <a:solidFill>
                <a:schemeClr val="dk2"/>
              </a:solidFill>
              <a:latin typeface="Catamaran"/>
              <a:ea typeface="Catamaran"/>
              <a:cs typeface="Catamaran"/>
              <a:sym typeface="Catamaran"/>
            </a:endParaRPr>
          </a:p>
          <a:p>
            <a:pPr marL="457200" lvl="0" indent="-317500" algn="l" rtl="0">
              <a:lnSpc>
                <a:spcPct val="100000"/>
              </a:lnSpc>
              <a:spcBef>
                <a:spcPts val="0"/>
              </a:spcBef>
              <a:spcAft>
                <a:spcPts val="0"/>
              </a:spcAft>
              <a:buClr>
                <a:schemeClr val="dk2"/>
              </a:buClr>
              <a:buSzPts val="1400"/>
              <a:buFont typeface="Catamaran"/>
              <a:buChar char="●"/>
            </a:pPr>
            <a:r>
              <a:rPr lang="en-US" b="1">
                <a:solidFill>
                  <a:schemeClr val="dk2"/>
                </a:solidFill>
                <a:latin typeface="Catamaran"/>
                <a:ea typeface="Catamaran"/>
                <a:cs typeface="Catamaran"/>
                <a:sym typeface="Catamaran"/>
              </a:rPr>
              <a:t>The error along z lies between </a:t>
            </a:r>
            <a:r>
              <a:rPr lang="en-US" b="1">
                <a:solidFill>
                  <a:schemeClr val="dk2"/>
                </a:solidFill>
              </a:rPr>
              <a:t>0</a:t>
            </a:r>
            <a:r>
              <a:rPr lang="en-US" b="1">
                <a:solidFill>
                  <a:schemeClr val="dk2"/>
                </a:solidFill>
                <a:latin typeface="Catamaran"/>
                <a:ea typeface="Catamaran"/>
                <a:cs typeface="Catamaran"/>
                <a:sym typeface="Catamaran"/>
              </a:rPr>
              <a:t> and </a:t>
            </a:r>
            <a:r>
              <a:rPr lang="en-US" b="1">
                <a:solidFill>
                  <a:schemeClr val="dk2"/>
                </a:solidFill>
              </a:rPr>
              <a:t>0.03</a:t>
            </a:r>
            <a:endParaRPr b="1">
              <a:solidFill>
                <a:schemeClr val="dk2"/>
              </a:solidFill>
            </a:endParaRPr>
          </a:p>
          <a:p>
            <a:pPr marL="0" lvl="0" indent="0" algn="l" rtl="0">
              <a:lnSpc>
                <a:spcPct val="100000"/>
              </a:lnSpc>
              <a:spcBef>
                <a:spcPts val="0"/>
              </a:spcBef>
              <a:spcAft>
                <a:spcPts val="0"/>
              </a:spcAft>
              <a:buNone/>
            </a:pPr>
            <a:endParaRPr sz="800" b="1">
              <a:solidFill>
                <a:schemeClr val="dk2"/>
              </a:solidFill>
            </a:endParaRPr>
          </a:p>
          <a:p>
            <a:pPr marL="457200" lvl="0" indent="-317500" algn="l" rtl="0">
              <a:lnSpc>
                <a:spcPct val="100000"/>
              </a:lnSpc>
              <a:spcBef>
                <a:spcPts val="0"/>
              </a:spcBef>
              <a:spcAft>
                <a:spcPts val="0"/>
              </a:spcAft>
              <a:buClr>
                <a:schemeClr val="dk2"/>
              </a:buClr>
              <a:buSzPts val="1400"/>
              <a:buChar char="●"/>
            </a:pPr>
            <a:r>
              <a:rPr lang="en-US" b="1">
                <a:solidFill>
                  <a:schemeClr val="dk2"/>
                </a:solidFill>
                <a:latin typeface="Catamaran"/>
                <a:ea typeface="Catamaran"/>
                <a:cs typeface="Catamaran"/>
                <a:sym typeface="Catamaran"/>
              </a:rPr>
              <a:t>The errors along x and y remains bounded between</a:t>
            </a:r>
            <a:r>
              <a:rPr lang="en-US" b="1">
                <a:solidFill>
                  <a:schemeClr val="dk2"/>
                </a:solidFill>
              </a:rPr>
              <a:t> 0 </a:t>
            </a:r>
            <a:r>
              <a:rPr lang="en-US" b="1">
                <a:solidFill>
                  <a:schemeClr val="dk2"/>
                </a:solidFill>
                <a:latin typeface="Catamaran"/>
                <a:ea typeface="Catamaran"/>
                <a:cs typeface="Catamaran"/>
                <a:sym typeface="Catamaran"/>
              </a:rPr>
              <a:t>and </a:t>
            </a:r>
            <a:r>
              <a:rPr lang="en-US" b="1">
                <a:solidFill>
                  <a:schemeClr val="dk2"/>
                </a:solidFill>
              </a:rPr>
              <a:t>0.04</a:t>
            </a:r>
            <a:endParaRPr b="1">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727650" y="220498"/>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Linear Platform Trajectory: Video</a:t>
            </a:r>
            <a:endParaRPr lang="en-US"/>
          </a:p>
        </p:txBody>
      </p:sp>
      <p:sp>
        <p:nvSpPr>
          <p:cNvPr id="225" name="Google Shape;225;p23"/>
          <p:cNvSpPr/>
          <p:nvPr/>
        </p:nvSpPr>
        <p:spPr>
          <a:xfrm>
            <a:off x="0" y="4060200"/>
            <a:ext cx="1500300" cy="1083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pic>
        <p:nvPicPr>
          <p:cNvPr id="226" name="Google Shape;226;p23" title="Vendittelli_linear.mp4">
            <a:hlinkClick r:id="rId1"/>
          </p:cNvPr>
          <p:cNvPicPr preferRelativeResize="0"/>
          <p:nvPr/>
        </p:nvPicPr>
        <p:blipFill>
          <a:blip r:embed="rId2"/>
          <a:stretch>
            <a:fillRect/>
          </a:stretch>
        </p:blipFill>
        <p:spPr>
          <a:xfrm>
            <a:off x="942663" y="1036686"/>
            <a:ext cx="7258670" cy="408300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1000"/>
                                        <p:tgtEl>
                                          <p:spTgt spid="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727650" y="220498"/>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Circular Platform Trajectory: Position tracking</a:t>
            </a:r>
            <a:endParaRPr lang="en-US"/>
          </a:p>
        </p:txBody>
      </p:sp>
      <p:sp>
        <p:nvSpPr>
          <p:cNvPr id="232" name="Google Shape;232;p24"/>
          <p:cNvSpPr txBox="1"/>
          <p:nvPr/>
        </p:nvSpPr>
        <p:spPr>
          <a:xfrm>
            <a:off x="6162225" y="1403234"/>
            <a:ext cx="3245700" cy="29082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Catamaran"/>
              <a:buChar char="●"/>
            </a:pPr>
            <a:r>
              <a:rPr lang="en-US" b="1">
                <a:solidFill>
                  <a:schemeClr val="dk2"/>
                </a:solidFill>
                <a:latin typeface="Catamaran"/>
                <a:ea typeface="Catamaran"/>
                <a:cs typeface="Catamaran"/>
                <a:sym typeface="Catamaran"/>
              </a:rPr>
              <a:t>Takeoff</a:t>
            </a:r>
            <a:endParaRPr b="1">
              <a:solidFill>
                <a:schemeClr val="dk2"/>
              </a:solidFill>
              <a:latin typeface="Catamaran"/>
              <a:ea typeface="Catamaran"/>
              <a:cs typeface="Catamaran"/>
              <a:sym typeface="Catamaran"/>
            </a:endParaRPr>
          </a:p>
          <a:p>
            <a:pPr marL="457200" lvl="0" indent="0" algn="l" rtl="0">
              <a:spcBef>
                <a:spcPts val="0"/>
              </a:spcBef>
              <a:spcAft>
                <a:spcPts val="0"/>
              </a:spcAft>
              <a:buNone/>
            </a:pPr>
            <a:r>
              <a:rPr lang="en-US" b="1">
                <a:solidFill>
                  <a:schemeClr val="dk2"/>
                </a:solidFill>
                <a:latin typeface="Catamaran"/>
                <a:ea typeface="Catamaran"/>
                <a:cs typeface="Catamaran"/>
                <a:sym typeface="Catamaran"/>
              </a:rPr>
              <a:t>Hovering</a:t>
            </a:r>
            <a:endParaRPr b="1">
              <a:solidFill>
                <a:schemeClr val="dk2"/>
              </a:solidFill>
              <a:latin typeface="Catamaran"/>
              <a:ea typeface="Catamaran"/>
              <a:cs typeface="Catamaran"/>
              <a:sym typeface="Catamaran"/>
            </a:endParaRPr>
          </a:p>
          <a:p>
            <a:pPr marL="457200" lvl="0" indent="0" algn="l" rtl="0">
              <a:spcBef>
                <a:spcPts val="0"/>
              </a:spcBef>
              <a:spcAft>
                <a:spcPts val="0"/>
              </a:spcAft>
              <a:buNone/>
            </a:pPr>
            <a:r>
              <a:rPr lang="en-US" b="1">
                <a:solidFill>
                  <a:schemeClr val="dk2"/>
                </a:solidFill>
                <a:highlight>
                  <a:srgbClr val="FFFF00"/>
                </a:highlight>
                <a:latin typeface="Catamaran"/>
                <a:ea typeface="Catamaran"/>
                <a:cs typeface="Catamaran"/>
                <a:sym typeface="Catamaran"/>
              </a:rPr>
              <a:t>Search</a:t>
            </a:r>
            <a:endParaRPr b="1">
              <a:solidFill>
                <a:schemeClr val="dk2"/>
              </a:solidFill>
              <a:highlight>
                <a:srgbClr val="FFFF00"/>
              </a:highlight>
              <a:latin typeface="Catamaran"/>
              <a:ea typeface="Catamaran"/>
              <a:cs typeface="Catamaran"/>
              <a:sym typeface="Catamaran"/>
            </a:endParaRPr>
          </a:p>
          <a:p>
            <a:pPr marL="457200" lvl="0" indent="0" algn="l" rtl="0">
              <a:spcBef>
                <a:spcPts val="0"/>
              </a:spcBef>
              <a:spcAft>
                <a:spcPts val="0"/>
              </a:spcAft>
              <a:buNone/>
            </a:pPr>
            <a:r>
              <a:rPr lang="en-US" b="1">
                <a:solidFill>
                  <a:schemeClr val="dk2"/>
                </a:solidFill>
                <a:latin typeface="Catamaran"/>
                <a:ea typeface="Catamaran"/>
                <a:cs typeface="Catamaran"/>
                <a:sym typeface="Catamaran"/>
              </a:rPr>
              <a:t>Tracking</a:t>
            </a:r>
            <a:endParaRPr b="1">
              <a:solidFill>
                <a:schemeClr val="dk2"/>
              </a:solidFill>
              <a:latin typeface="Catamaran"/>
              <a:ea typeface="Catamaran"/>
              <a:cs typeface="Catamaran"/>
              <a:sym typeface="Catamaran"/>
            </a:endParaRPr>
          </a:p>
          <a:p>
            <a:pPr marL="457200" lvl="0" indent="0" algn="l" rtl="0">
              <a:spcBef>
                <a:spcPts val="0"/>
              </a:spcBef>
              <a:spcAft>
                <a:spcPts val="0"/>
              </a:spcAft>
              <a:buNone/>
            </a:pPr>
            <a:r>
              <a:rPr lang="en-US" b="1">
                <a:solidFill>
                  <a:schemeClr val="dk2"/>
                </a:solidFill>
                <a:latin typeface="Catamaran"/>
                <a:ea typeface="Catamaran"/>
                <a:cs typeface="Catamaran"/>
                <a:sym typeface="Catamaran"/>
              </a:rPr>
              <a:t>Landing</a:t>
            </a:r>
            <a:endParaRPr b="1">
              <a:solidFill>
                <a:schemeClr val="dk2"/>
              </a:solidFill>
              <a:latin typeface="Catamaran"/>
              <a:ea typeface="Catamaran"/>
              <a:cs typeface="Catamaran"/>
              <a:sym typeface="Catamaran"/>
            </a:endParaRPr>
          </a:p>
          <a:p>
            <a:pPr marL="0" lvl="0" indent="0" algn="l" rtl="0">
              <a:spcBef>
                <a:spcPts val="0"/>
              </a:spcBef>
              <a:spcAft>
                <a:spcPts val="0"/>
              </a:spcAft>
              <a:buNone/>
            </a:pPr>
            <a:endParaRPr b="1">
              <a:solidFill>
                <a:schemeClr val="dk2"/>
              </a:solidFill>
              <a:latin typeface="Catamaran"/>
              <a:ea typeface="Catamaran"/>
              <a:cs typeface="Catamaran"/>
              <a:sym typeface="Catamaran"/>
            </a:endParaRPr>
          </a:p>
          <a:p>
            <a:pPr marL="457200" lvl="0" indent="-317500" algn="l" rtl="0">
              <a:spcBef>
                <a:spcPts val="0"/>
              </a:spcBef>
              <a:spcAft>
                <a:spcPts val="0"/>
              </a:spcAft>
              <a:buClr>
                <a:schemeClr val="dk2"/>
              </a:buClr>
              <a:buSzPts val="1400"/>
              <a:buChar char="●"/>
            </a:pPr>
            <a:r>
              <a:rPr lang="en-US" b="1">
                <a:solidFill>
                  <a:schemeClr val="dk2"/>
                </a:solidFill>
                <a:latin typeface="Catamaran"/>
                <a:ea typeface="Catamaran"/>
                <a:cs typeface="Catamaran"/>
                <a:sym typeface="Catamaran"/>
              </a:rPr>
              <a:t>The </a:t>
            </a:r>
            <a:r>
              <a:rPr lang="en-US" b="1">
                <a:solidFill>
                  <a:schemeClr val="dk2"/>
                </a:solidFill>
                <a:latin typeface="Catamaran"/>
                <a:ea typeface="Catamaran"/>
                <a:cs typeface="Catamaran"/>
                <a:sym typeface="Catamaran"/>
              </a:rPr>
              <a:t>performance</a:t>
            </a:r>
            <a:r>
              <a:rPr lang="en-US" b="1">
                <a:solidFill>
                  <a:schemeClr val="dk2"/>
                </a:solidFill>
                <a:latin typeface="Catamaran"/>
                <a:ea typeface="Catamaran"/>
                <a:cs typeface="Catamaran"/>
                <a:sym typeface="Catamaran"/>
              </a:rPr>
              <a:t> doesn’t degrade with respect to the linear case</a:t>
            </a:r>
            <a:endParaRPr b="1">
              <a:solidFill>
                <a:schemeClr val="dk2"/>
              </a:solidFill>
            </a:endParaRPr>
          </a:p>
        </p:txBody>
      </p:sp>
      <p:pic>
        <p:nvPicPr>
          <p:cNvPr id="233" name="Google Shape;233;p24"/>
          <p:cNvPicPr preferRelativeResize="0"/>
          <p:nvPr/>
        </p:nvPicPr>
        <p:blipFill>
          <a:blip r:embed="rId1"/>
          <a:stretch>
            <a:fillRect/>
          </a:stretch>
        </p:blipFill>
        <p:spPr>
          <a:xfrm>
            <a:off x="290174" y="1221275"/>
            <a:ext cx="6033202" cy="2713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sp>
        <p:nvSpPr>
          <p:cNvPr id="238" name="Google Shape;238;p25"/>
          <p:cNvSpPr txBox="1"/>
          <p:nvPr>
            <p:ph type="title"/>
          </p:nvPr>
        </p:nvSpPr>
        <p:spPr>
          <a:xfrm>
            <a:off x="727650" y="220498"/>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Circular Platform Trajectory: Video</a:t>
            </a:r>
            <a:endParaRPr lang="en-US"/>
          </a:p>
          <a:p>
            <a:pPr marL="0" lvl="0" indent="0" algn="l" rtl="0">
              <a:spcBef>
                <a:spcPts val="0"/>
              </a:spcBef>
              <a:spcAft>
                <a:spcPts val="0"/>
              </a:spcAft>
              <a:buNone/>
            </a:pPr>
          </a:p>
        </p:txBody>
      </p:sp>
      <p:sp>
        <p:nvSpPr>
          <p:cNvPr id="239" name="Google Shape;239;p25"/>
          <p:cNvSpPr/>
          <p:nvPr/>
        </p:nvSpPr>
        <p:spPr>
          <a:xfrm>
            <a:off x="0" y="4060200"/>
            <a:ext cx="1500300" cy="1083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pic>
        <p:nvPicPr>
          <p:cNvPr id="240" name="Google Shape;240;p25" title="Video senza titolo - Realizzato con Clipchamp (1).mp4">
            <a:hlinkClick r:id="rId1"/>
          </p:cNvPr>
          <p:cNvPicPr preferRelativeResize="0"/>
          <p:nvPr/>
        </p:nvPicPr>
        <p:blipFill>
          <a:blip r:embed="rId2"/>
          <a:stretch>
            <a:fillRect/>
          </a:stretch>
        </p:blipFill>
        <p:spPr>
          <a:xfrm>
            <a:off x="942663" y="943823"/>
            <a:ext cx="7258670" cy="408300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727650" y="220498"/>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Figure-8 Platform Trajectory: Position tracking</a:t>
            </a:r>
            <a:endParaRPr lang="en-US"/>
          </a:p>
        </p:txBody>
      </p:sp>
      <p:sp>
        <p:nvSpPr>
          <p:cNvPr id="246" name="Google Shape;246;p26"/>
          <p:cNvSpPr txBox="1"/>
          <p:nvPr/>
        </p:nvSpPr>
        <p:spPr>
          <a:xfrm>
            <a:off x="6210250" y="2253594"/>
            <a:ext cx="3245700" cy="636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Catamaran"/>
              <a:buChar char="●"/>
            </a:pPr>
            <a:r>
              <a:rPr lang="en-US" b="1">
                <a:solidFill>
                  <a:schemeClr val="dk2"/>
                </a:solidFill>
                <a:latin typeface="Catamaran"/>
                <a:ea typeface="Catamaran"/>
                <a:cs typeface="Catamaran"/>
                <a:sym typeface="Catamaran"/>
              </a:rPr>
              <a:t>No performance degradation</a:t>
            </a:r>
            <a:endParaRPr b="1">
              <a:solidFill>
                <a:schemeClr val="dk2"/>
              </a:solidFill>
              <a:latin typeface="Catamaran"/>
              <a:ea typeface="Catamaran"/>
              <a:cs typeface="Catamaran"/>
              <a:sym typeface="Catamaran"/>
            </a:endParaRPr>
          </a:p>
          <a:p>
            <a:pPr marL="457200" lvl="0" indent="0" algn="l" rtl="0">
              <a:spcBef>
                <a:spcPts val="0"/>
              </a:spcBef>
              <a:spcAft>
                <a:spcPts val="0"/>
              </a:spcAft>
              <a:buNone/>
            </a:pPr>
            <a:endParaRPr b="1">
              <a:solidFill>
                <a:schemeClr val="dk2"/>
              </a:solidFill>
            </a:endParaRPr>
          </a:p>
        </p:txBody>
      </p:sp>
      <p:pic>
        <p:nvPicPr>
          <p:cNvPr id="247" name="Google Shape;247;p26"/>
          <p:cNvPicPr preferRelativeResize="0"/>
          <p:nvPr/>
        </p:nvPicPr>
        <p:blipFill>
          <a:blip r:embed="rId1"/>
          <a:stretch>
            <a:fillRect/>
          </a:stretch>
        </p:blipFill>
        <p:spPr>
          <a:xfrm>
            <a:off x="346200" y="1401825"/>
            <a:ext cx="5864048" cy="26421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51" name="Shape 251"/>
        <p:cNvGrpSpPr/>
        <p:nvPr/>
      </p:nvGrpSpPr>
      <p:grpSpPr>
        <a:xfrm>
          <a:off x="0" y="0"/>
          <a:ext cx="0" cy="0"/>
          <a:chOff x="0" y="0"/>
          <a:chExt cx="0" cy="0"/>
        </a:xfrm>
      </p:grpSpPr>
      <p:sp>
        <p:nvSpPr>
          <p:cNvPr id="252" name="Google Shape;252;p27"/>
          <p:cNvSpPr txBox="1"/>
          <p:nvPr>
            <p:ph type="title"/>
          </p:nvPr>
        </p:nvSpPr>
        <p:spPr>
          <a:xfrm>
            <a:off x="727650" y="220498"/>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Figure-8 Trajectory: Video</a:t>
            </a:r>
            <a:endParaRPr lang="en-US"/>
          </a:p>
          <a:p>
            <a:pPr marL="0" lvl="0" indent="0" algn="l" rtl="0">
              <a:spcBef>
                <a:spcPts val="0"/>
              </a:spcBef>
              <a:spcAft>
                <a:spcPts val="0"/>
              </a:spcAft>
              <a:buNone/>
            </a:pPr>
          </a:p>
        </p:txBody>
      </p:sp>
      <p:sp>
        <p:nvSpPr>
          <p:cNvPr id="253" name="Google Shape;253;p27"/>
          <p:cNvSpPr/>
          <p:nvPr/>
        </p:nvSpPr>
        <p:spPr>
          <a:xfrm>
            <a:off x="0" y="4060200"/>
            <a:ext cx="1500300" cy="1083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pic>
        <p:nvPicPr>
          <p:cNvPr id="254" name="Google Shape;254;p27" title="Video senza titolo - Realizzato con Clipchamp (2).mp4">
            <a:hlinkClick r:id="rId1"/>
          </p:cNvPr>
          <p:cNvPicPr preferRelativeResize="0"/>
          <p:nvPr/>
        </p:nvPicPr>
        <p:blipFill>
          <a:blip r:embed="rId2"/>
          <a:stretch>
            <a:fillRect/>
          </a:stretch>
        </p:blipFill>
        <p:spPr>
          <a:xfrm>
            <a:off x="942663" y="1013597"/>
            <a:ext cx="7258670" cy="408300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1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58" name="Shape 258"/>
        <p:cNvGrpSpPr/>
        <p:nvPr/>
      </p:nvGrpSpPr>
      <p:grpSpPr>
        <a:xfrm>
          <a:off x="0" y="0"/>
          <a:ext cx="0" cy="0"/>
          <a:chOff x="0" y="0"/>
          <a:chExt cx="0" cy="0"/>
        </a:xfrm>
      </p:grpSpPr>
      <p:sp>
        <p:nvSpPr>
          <p:cNvPr id="259" name="Google Shape;259;p28"/>
          <p:cNvSpPr txBox="1"/>
          <p:nvPr>
            <p:ph type="body" idx="1"/>
          </p:nvPr>
        </p:nvSpPr>
        <p:spPr>
          <a:xfrm>
            <a:off x="778950" y="1963925"/>
            <a:ext cx="1579500" cy="7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00000"/>
                </a:solidFill>
              </a:rPr>
              <a:t>PID vs Non-linear feedback</a:t>
            </a:r>
            <a:endParaRPr b="1">
              <a:solidFill>
                <a:srgbClr val="000000"/>
              </a:solidFill>
            </a:endParaRPr>
          </a:p>
        </p:txBody>
      </p:sp>
      <p:sp>
        <p:nvSpPr>
          <p:cNvPr id="260" name="Google Shape;260;p28"/>
          <p:cNvSpPr/>
          <p:nvPr/>
        </p:nvSpPr>
        <p:spPr>
          <a:xfrm>
            <a:off x="778950" y="1963925"/>
            <a:ext cx="1406100" cy="611400"/>
          </a:xfrm>
          <a:prstGeom prst="roundRect">
            <a:avLst>
              <a:gd name="adj" fmla="val 16667"/>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261" name="Google Shape;261;p28"/>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Discussion (Implementation vs Reference)</a:t>
            </a:r>
            <a:endParaRPr lang="en-US"/>
          </a:p>
        </p:txBody>
      </p:sp>
      <p:sp>
        <p:nvSpPr>
          <p:cNvPr id="262" name="Google Shape;262;p28"/>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3" name="Google Shape;263;p28"/>
          <p:cNvSpPr txBox="1"/>
          <p:nvPr/>
        </p:nvSpPr>
        <p:spPr>
          <a:xfrm>
            <a:off x="2732550" y="1905275"/>
            <a:ext cx="5632500" cy="107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300">
                <a:latin typeface="Catamaran"/>
                <a:ea typeface="Catamaran"/>
                <a:cs typeface="Catamaran"/>
                <a:sym typeface="Catamaran"/>
              </a:rPr>
              <a:t>Our </a:t>
            </a:r>
            <a:r>
              <a:rPr lang="en-US" sz="1300" b="1">
                <a:latin typeface="Catamaran"/>
                <a:ea typeface="Catamaran"/>
                <a:cs typeface="Catamaran"/>
                <a:sym typeface="Catamaran"/>
              </a:rPr>
              <a:t>two-level cascaded PID</a:t>
            </a:r>
            <a:r>
              <a:rPr lang="en-US" sz="1300">
                <a:latin typeface="Catamaran"/>
                <a:ea typeface="Catamaran"/>
                <a:cs typeface="Catamaran"/>
                <a:sym typeface="Catamaran"/>
              </a:rPr>
              <a:t> architecture is simpler than Falanga et al.’s nonlinear feedback approach. This trade-off is acceptable for the tested regime (hover-to-landing) but limits scalability to aggressive maneuvers.</a:t>
            </a:r>
            <a:endParaRPr sz="1300">
              <a:latin typeface="Catamaran"/>
              <a:ea typeface="Catamaran"/>
              <a:cs typeface="Catamaran"/>
              <a:sym typeface="Catamaran"/>
            </a:endParaRPr>
          </a:p>
          <a:p>
            <a:pPr marL="0" lvl="0" indent="0" algn="l" rtl="0">
              <a:spcBef>
                <a:spcPts val="0"/>
              </a:spcBef>
              <a:spcAft>
                <a:spcPts val="0"/>
              </a:spcAft>
              <a:buNone/>
            </a:pPr>
            <a:endParaRPr sz="1300">
              <a:solidFill>
                <a:schemeClr val="accent1"/>
              </a:solidFill>
              <a:latin typeface="Catamaran"/>
              <a:ea typeface="Catamaran"/>
              <a:cs typeface="Catamaran"/>
              <a:sym typeface="Catamaran"/>
            </a:endParaRPr>
          </a:p>
        </p:txBody>
      </p:sp>
      <p:sp>
        <p:nvSpPr>
          <p:cNvPr id="264" name="Google Shape;264;p28"/>
          <p:cNvSpPr/>
          <p:nvPr/>
        </p:nvSpPr>
        <p:spPr>
          <a:xfrm>
            <a:off x="2364588" y="2132675"/>
            <a:ext cx="361800" cy="273900"/>
          </a:xfrm>
          <a:prstGeom prst="rightArrow">
            <a:avLst>
              <a:gd name="adj1" fmla="val 50000"/>
              <a:gd name="adj2" fmla="val 50000"/>
            </a:avLst>
          </a:prstGeom>
          <a:solidFill>
            <a:schemeClr val="accent4"/>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265" name="Google Shape;265;p28"/>
          <p:cNvSpPr txBox="1"/>
          <p:nvPr>
            <p:ph type="body" idx="1"/>
          </p:nvPr>
        </p:nvSpPr>
        <p:spPr>
          <a:xfrm>
            <a:off x="774063" y="3030338"/>
            <a:ext cx="1406100" cy="7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00000"/>
                </a:solidFill>
              </a:rPr>
              <a:t>Novel:</a:t>
            </a:r>
            <a:endParaRPr b="1">
              <a:solidFill>
                <a:srgbClr val="000000"/>
              </a:solidFill>
            </a:endParaRPr>
          </a:p>
          <a:p>
            <a:pPr marL="0" lvl="0" indent="0" algn="l" rtl="0">
              <a:spcBef>
                <a:spcPts val="0"/>
              </a:spcBef>
              <a:spcAft>
                <a:spcPts val="0"/>
              </a:spcAft>
              <a:buNone/>
            </a:pPr>
            <a:r>
              <a:rPr lang="en-US" b="1">
                <a:solidFill>
                  <a:srgbClr val="000000"/>
                </a:solidFill>
              </a:rPr>
              <a:t>Attitude gating</a:t>
            </a:r>
            <a:r>
              <a:rPr lang="en-US">
                <a:solidFill>
                  <a:srgbClr val="000000"/>
                </a:solidFill>
              </a:rPr>
              <a:t> </a:t>
            </a:r>
            <a:endParaRPr>
              <a:solidFill>
                <a:srgbClr val="000000"/>
              </a:solidFill>
            </a:endParaRPr>
          </a:p>
        </p:txBody>
      </p:sp>
      <p:sp>
        <p:nvSpPr>
          <p:cNvPr id="266" name="Google Shape;266;p28"/>
          <p:cNvSpPr txBox="1"/>
          <p:nvPr/>
        </p:nvSpPr>
        <p:spPr>
          <a:xfrm>
            <a:off x="2737438" y="2913013"/>
            <a:ext cx="5632500" cy="107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300">
                <a:latin typeface="Catamaran"/>
                <a:ea typeface="Catamaran"/>
                <a:cs typeface="Catamaran"/>
                <a:sym typeface="Catamaran"/>
              </a:rPr>
              <a:t>By </a:t>
            </a:r>
            <a:r>
              <a:rPr lang="en-US" sz="1300" b="1">
                <a:latin typeface="Catamaran"/>
                <a:ea typeface="Catamaran"/>
                <a:cs typeface="Catamaran"/>
                <a:sym typeface="Catamaran"/>
              </a:rPr>
              <a:t>disabling </a:t>
            </a:r>
            <a:r>
              <a:rPr lang="en-US" sz="1300">
                <a:latin typeface="Catamaran"/>
                <a:ea typeface="Catamaran"/>
                <a:cs typeface="Catamaran"/>
                <a:sym typeface="Catamaran"/>
              </a:rPr>
              <a:t>Kalman updates at </a:t>
            </a:r>
            <a:r>
              <a:rPr lang="en-US" sz="1300" b="1">
                <a:latin typeface="Catamaran"/>
                <a:ea typeface="Catamaran"/>
                <a:cs typeface="Catamaran"/>
                <a:sym typeface="Catamaran"/>
              </a:rPr>
              <a:t>large attitudes</a:t>
            </a:r>
            <a:r>
              <a:rPr lang="en-US" sz="1300">
                <a:latin typeface="Catamaran"/>
                <a:ea typeface="Catamaran"/>
                <a:cs typeface="Catamaran"/>
                <a:sym typeface="Catamaran"/>
              </a:rPr>
              <a:t>, we accept prediction-only during aggressive maneuvers. This is conservative but </a:t>
            </a:r>
            <a:r>
              <a:rPr lang="en-US" sz="1300" b="1">
                <a:latin typeface="Catamaran"/>
                <a:ea typeface="Catamaran"/>
                <a:cs typeface="Catamaran"/>
                <a:sym typeface="Catamaran"/>
              </a:rPr>
              <a:t>prevents noise injection</a:t>
            </a:r>
            <a:r>
              <a:rPr lang="en-US" sz="1300">
                <a:latin typeface="Catamaran"/>
                <a:ea typeface="Catamaran"/>
                <a:cs typeface="Catamaran"/>
                <a:sym typeface="Catamaran"/>
              </a:rPr>
              <a:t> when camera geometry is poor.</a:t>
            </a:r>
            <a:endParaRPr sz="1300">
              <a:latin typeface="Catamaran"/>
              <a:ea typeface="Catamaran"/>
              <a:cs typeface="Catamaran"/>
              <a:sym typeface="Catamaran"/>
            </a:endParaRPr>
          </a:p>
          <a:p>
            <a:pPr marL="0" lvl="0" indent="0" algn="l" rtl="0">
              <a:spcBef>
                <a:spcPts val="0"/>
              </a:spcBef>
              <a:spcAft>
                <a:spcPts val="0"/>
              </a:spcAft>
              <a:buNone/>
            </a:pPr>
            <a:endParaRPr sz="1300">
              <a:solidFill>
                <a:schemeClr val="accent1"/>
              </a:solidFill>
              <a:latin typeface="Catamaran"/>
              <a:ea typeface="Catamaran"/>
              <a:cs typeface="Catamaran"/>
              <a:sym typeface="Catamaran"/>
            </a:endParaRPr>
          </a:p>
        </p:txBody>
      </p:sp>
      <p:sp>
        <p:nvSpPr>
          <p:cNvPr id="267" name="Google Shape;267;p28"/>
          <p:cNvSpPr/>
          <p:nvPr/>
        </p:nvSpPr>
        <p:spPr>
          <a:xfrm>
            <a:off x="2282775" y="3208813"/>
            <a:ext cx="361800" cy="273900"/>
          </a:xfrm>
          <a:prstGeom prst="rightArrow">
            <a:avLst>
              <a:gd name="adj1" fmla="val 50000"/>
              <a:gd name="adj2" fmla="val 50000"/>
            </a:avLst>
          </a:prstGeom>
          <a:solidFill>
            <a:schemeClr val="accent4"/>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268" name="Google Shape;268;p28"/>
          <p:cNvSpPr/>
          <p:nvPr/>
        </p:nvSpPr>
        <p:spPr>
          <a:xfrm>
            <a:off x="774063" y="3030338"/>
            <a:ext cx="1337700" cy="611400"/>
          </a:xfrm>
          <a:prstGeom prst="roundRect">
            <a:avLst>
              <a:gd name="adj" fmla="val 16667"/>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72" name="Shape 272"/>
        <p:cNvGrpSpPr/>
        <p:nvPr/>
      </p:nvGrpSpPr>
      <p:grpSpPr>
        <a:xfrm>
          <a:off x="0" y="0"/>
          <a:ext cx="0" cy="0"/>
          <a:chOff x="0" y="0"/>
          <a:chExt cx="0" cy="0"/>
        </a:xfrm>
      </p:grpSpPr>
      <p:sp>
        <p:nvSpPr>
          <p:cNvPr id="273" name="Google Shape;273;p29"/>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Discussion (Future work)</a:t>
            </a:r>
            <a:endParaRPr lang="en-US"/>
          </a:p>
        </p:txBody>
      </p:sp>
      <p:sp>
        <p:nvSpPr>
          <p:cNvPr id="274" name="Google Shape;274;p29"/>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5" name="Google Shape;275;p29"/>
          <p:cNvSpPr txBox="1"/>
          <p:nvPr/>
        </p:nvSpPr>
        <p:spPr>
          <a:xfrm>
            <a:off x="727650" y="1651050"/>
            <a:ext cx="3068100" cy="17655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Font typeface="Catamaran"/>
              <a:buChar char="●"/>
            </a:pPr>
            <a:r>
              <a:rPr lang="en-US" sz="1300" b="1">
                <a:latin typeface="Catamaran"/>
                <a:ea typeface="Catamaran"/>
                <a:cs typeface="Catamaran"/>
                <a:sym typeface="Catamaran"/>
              </a:rPr>
              <a:t>Sim-to-Real gap</a:t>
            </a:r>
            <a:endParaRPr sz="1300" b="1">
              <a:latin typeface="Catamaran"/>
              <a:ea typeface="Catamaran"/>
              <a:cs typeface="Catamaran"/>
              <a:sym typeface="Catamaran"/>
            </a:endParaRPr>
          </a:p>
          <a:p>
            <a:pPr marL="457200" lvl="0" indent="0" algn="l" rtl="0">
              <a:lnSpc>
                <a:spcPct val="115000"/>
              </a:lnSpc>
              <a:spcBef>
                <a:spcPts val="0"/>
              </a:spcBef>
              <a:spcAft>
                <a:spcPts val="0"/>
              </a:spcAft>
              <a:buNone/>
            </a:pPr>
            <a:endParaRPr sz="1300" b="1">
              <a:latin typeface="Catamaran"/>
              <a:ea typeface="Catamaran"/>
              <a:cs typeface="Catamaran"/>
              <a:sym typeface="Catamaran"/>
            </a:endParaRPr>
          </a:p>
          <a:p>
            <a:pPr marL="457200" lvl="0" indent="-311150" algn="l" rtl="0">
              <a:lnSpc>
                <a:spcPct val="115000"/>
              </a:lnSpc>
              <a:spcBef>
                <a:spcPts val="0"/>
              </a:spcBef>
              <a:spcAft>
                <a:spcPts val="0"/>
              </a:spcAft>
              <a:buSzPts val="1300"/>
              <a:buFont typeface="Catamaran"/>
              <a:buChar char="●"/>
            </a:pPr>
            <a:r>
              <a:rPr lang="en-US" sz="1300" b="1">
                <a:latin typeface="Catamaran"/>
                <a:ea typeface="Catamaran"/>
                <a:cs typeface="Catamaran"/>
                <a:sym typeface="Catamaran"/>
              </a:rPr>
              <a:t>Control</a:t>
            </a:r>
            <a:endParaRPr sz="1300" b="1">
              <a:latin typeface="Catamaran"/>
              <a:ea typeface="Catamaran"/>
              <a:cs typeface="Catamaran"/>
              <a:sym typeface="Catamaran"/>
            </a:endParaRPr>
          </a:p>
          <a:p>
            <a:pPr marL="0" lvl="0" indent="0" algn="l" rtl="0">
              <a:lnSpc>
                <a:spcPct val="115000"/>
              </a:lnSpc>
              <a:spcBef>
                <a:spcPts val="0"/>
              </a:spcBef>
              <a:spcAft>
                <a:spcPts val="0"/>
              </a:spcAft>
              <a:buNone/>
            </a:pPr>
            <a:endParaRPr sz="1300" b="1">
              <a:latin typeface="Catamaran"/>
              <a:ea typeface="Catamaran"/>
              <a:cs typeface="Catamaran"/>
              <a:sym typeface="Catamaran"/>
            </a:endParaRPr>
          </a:p>
          <a:p>
            <a:pPr marL="457200" lvl="0" indent="-311150" algn="l" rtl="0">
              <a:lnSpc>
                <a:spcPct val="115000"/>
              </a:lnSpc>
              <a:spcBef>
                <a:spcPts val="0"/>
              </a:spcBef>
              <a:spcAft>
                <a:spcPts val="0"/>
              </a:spcAft>
              <a:buSzPts val="1300"/>
              <a:buFont typeface="Catamaran"/>
              <a:buChar char="●"/>
            </a:pPr>
            <a:r>
              <a:rPr lang="en-US" sz="1300" b="1">
                <a:latin typeface="Catamaran"/>
                <a:ea typeface="Catamaran"/>
                <a:cs typeface="Catamaran"/>
                <a:sym typeface="Catamaran"/>
              </a:rPr>
              <a:t>Constant-Velocity assumption</a:t>
            </a:r>
            <a:endParaRPr sz="1300" b="1">
              <a:latin typeface="Catamaran"/>
              <a:ea typeface="Catamaran"/>
              <a:cs typeface="Catamaran"/>
              <a:sym typeface="Catamaran"/>
            </a:endParaRPr>
          </a:p>
          <a:p>
            <a:pPr marL="457200" lvl="0" indent="0" algn="l" rtl="0">
              <a:lnSpc>
                <a:spcPct val="115000"/>
              </a:lnSpc>
              <a:spcBef>
                <a:spcPts val="0"/>
              </a:spcBef>
              <a:spcAft>
                <a:spcPts val="0"/>
              </a:spcAft>
              <a:buNone/>
            </a:pPr>
            <a:endParaRPr sz="1300" b="1">
              <a:latin typeface="Catamaran"/>
              <a:ea typeface="Catamaran"/>
              <a:cs typeface="Catamaran"/>
              <a:sym typeface="Catamaran"/>
            </a:endParaRPr>
          </a:p>
          <a:p>
            <a:pPr marL="457200" lvl="0" indent="-311150" algn="l" rtl="0">
              <a:lnSpc>
                <a:spcPct val="115000"/>
              </a:lnSpc>
              <a:spcBef>
                <a:spcPts val="0"/>
              </a:spcBef>
              <a:spcAft>
                <a:spcPts val="0"/>
              </a:spcAft>
              <a:buSzPts val="1300"/>
              <a:buFont typeface="Catamaran"/>
              <a:buChar char="●"/>
            </a:pPr>
            <a:r>
              <a:rPr lang="en-US" sz="1300" b="1">
                <a:latin typeface="Catamaran"/>
                <a:ea typeface="Catamaran"/>
                <a:cs typeface="Catamaran"/>
                <a:sym typeface="Catamaran"/>
              </a:rPr>
              <a:t>Euler Angle Singularities</a:t>
            </a:r>
            <a:endParaRPr sz="1300" b="1">
              <a:latin typeface="Catamaran"/>
              <a:ea typeface="Catamaran"/>
              <a:cs typeface="Catamaran"/>
              <a:sym typeface="Catamaran"/>
            </a:endParaRPr>
          </a:p>
        </p:txBody>
      </p:sp>
      <p:sp>
        <p:nvSpPr>
          <p:cNvPr id="276" name="Google Shape;276;p29"/>
          <p:cNvSpPr/>
          <p:nvPr/>
        </p:nvSpPr>
        <p:spPr>
          <a:xfrm>
            <a:off x="3590675" y="1789250"/>
            <a:ext cx="625800" cy="127200"/>
          </a:xfrm>
          <a:prstGeom prst="rightArrow">
            <a:avLst>
              <a:gd name="adj1" fmla="val 50000"/>
              <a:gd name="adj2" fmla="val 50000"/>
            </a:avLst>
          </a:prstGeom>
          <a:solidFill>
            <a:schemeClr val="accent4"/>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277" name="Google Shape;277;p29"/>
          <p:cNvSpPr/>
          <p:nvPr/>
        </p:nvSpPr>
        <p:spPr>
          <a:xfrm>
            <a:off x="3590675" y="2244775"/>
            <a:ext cx="625800" cy="127200"/>
          </a:xfrm>
          <a:prstGeom prst="rightArrow">
            <a:avLst>
              <a:gd name="adj1" fmla="val 50000"/>
              <a:gd name="adj2" fmla="val 50000"/>
            </a:avLst>
          </a:prstGeom>
          <a:solidFill>
            <a:schemeClr val="accent4"/>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278" name="Google Shape;278;p29"/>
          <p:cNvSpPr/>
          <p:nvPr/>
        </p:nvSpPr>
        <p:spPr>
          <a:xfrm>
            <a:off x="3590675" y="2700300"/>
            <a:ext cx="625800" cy="127200"/>
          </a:xfrm>
          <a:prstGeom prst="rightArrow">
            <a:avLst>
              <a:gd name="adj1" fmla="val 50000"/>
              <a:gd name="adj2" fmla="val 50000"/>
            </a:avLst>
          </a:prstGeom>
          <a:solidFill>
            <a:schemeClr val="accent4"/>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279" name="Google Shape;279;p29"/>
          <p:cNvSpPr/>
          <p:nvPr/>
        </p:nvSpPr>
        <p:spPr>
          <a:xfrm>
            <a:off x="3590675" y="3155825"/>
            <a:ext cx="625800" cy="127200"/>
          </a:xfrm>
          <a:prstGeom prst="rightArrow">
            <a:avLst>
              <a:gd name="adj1" fmla="val 50000"/>
              <a:gd name="adj2" fmla="val 50000"/>
            </a:avLst>
          </a:prstGeom>
          <a:solidFill>
            <a:schemeClr val="accent4"/>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tamaran"/>
              <a:ea typeface="Catamaran"/>
              <a:cs typeface="Catamaran"/>
              <a:sym typeface="Catamaran"/>
            </a:endParaRPr>
          </a:p>
        </p:txBody>
      </p:sp>
      <p:sp>
        <p:nvSpPr>
          <p:cNvPr id="280" name="Google Shape;280;p29"/>
          <p:cNvSpPr txBox="1"/>
          <p:nvPr/>
        </p:nvSpPr>
        <p:spPr>
          <a:xfrm>
            <a:off x="4439425" y="1545350"/>
            <a:ext cx="44220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300" b="1">
                <a:latin typeface="Catamaran"/>
                <a:ea typeface="Catamaran"/>
                <a:cs typeface="Catamaran"/>
                <a:sym typeface="Catamaran"/>
              </a:rPr>
              <a:t>Ground truth pose</a:t>
            </a:r>
            <a:r>
              <a:rPr lang="en-US" sz="1300">
                <a:latin typeface="Catamaran"/>
                <a:ea typeface="Catamaran"/>
                <a:cs typeface="Catamaran"/>
                <a:sym typeface="Catamaran"/>
              </a:rPr>
              <a:t> from CoppeliaSim (odometry required in real applications. Camera sensor is perfect (</a:t>
            </a:r>
            <a:r>
              <a:rPr lang="en-US" sz="1300">
                <a:latin typeface="Catamaran"/>
                <a:ea typeface="Catamaran"/>
                <a:cs typeface="Catamaran"/>
                <a:sym typeface="Catamaran"/>
              </a:rPr>
              <a:t>unrealistic</a:t>
            </a:r>
            <a:r>
              <a:rPr lang="en-US" sz="1300">
                <a:latin typeface="Catamaran"/>
                <a:ea typeface="Catamaran"/>
                <a:cs typeface="Catamaran"/>
                <a:sym typeface="Catamaran"/>
              </a:rPr>
              <a:t>)</a:t>
            </a:r>
            <a:endParaRPr sz="1300">
              <a:latin typeface="Catamaran"/>
              <a:ea typeface="Catamaran"/>
              <a:cs typeface="Catamaran"/>
              <a:sym typeface="Catamaran"/>
            </a:endParaRPr>
          </a:p>
        </p:txBody>
      </p:sp>
      <p:sp>
        <p:nvSpPr>
          <p:cNvPr id="281" name="Google Shape;281;p29"/>
          <p:cNvSpPr txBox="1"/>
          <p:nvPr/>
        </p:nvSpPr>
        <p:spPr>
          <a:xfrm>
            <a:off x="4439425" y="2115925"/>
            <a:ext cx="442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300" b="1">
                <a:latin typeface="Catamaran"/>
                <a:ea typeface="Catamaran"/>
                <a:cs typeface="Catamaran"/>
                <a:sym typeface="Catamaran"/>
              </a:rPr>
              <a:t>Inverse dynamics</a:t>
            </a:r>
            <a:r>
              <a:rPr lang="en-US" sz="1300">
                <a:latin typeface="Catamaran"/>
                <a:ea typeface="Catamaran"/>
                <a:cs typeface="Catamaran"/>
                <a:sym typeface="Catamaran"/>
              </a:rPr>
              <a:t> based controller instead of </a:t>
            </a:r>
            <a:r>
              <a:rPr lang="en-US" sz="1300" b="1">
                <a:latin typeface="Catamaran"/>
                <a:ea typeface="Catamaran"/>
                <a:cs typeface="Catamaran"/>
                <a:sym typeface="Catamaran"/>
              </a:rPr>
              <a:t>PID</a:t>
            </a:r>
            <a:endParaRPr sz="1300" b="1">
              <a:latin typeface="Catamaran"/>
              <a:ea typeface="Catamaran"/>
              <a:cs typeface="Catamaran"/>
              <a:sym typeface="Catamaran"/>
            </a:endParaRPr>
          </a:p>
        </p:txBody>
      </p:sp>
      <p:sp>
        <p:nvSpPr>
          <p:cNvPr id="282" name="Google Shape;282;p29"/>
          <p:cNvSpPr txBox="1"/>
          <p:nvPr/>
        </p:nvSpPr>
        <p:spPr>
          <a:xfrm>
            <a:off x="4439425" y="2554770"/>
            <a:ext cx="45783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300">
                <a:latin typeface="Catamaran"/>
                <a:ea typeface="Catamaran"/>
                <a:cs typeface="Catamaran"/>
                <a:sym typeface="Catamaran"/>
              </a:rPr>
              <a:t>We worked with </a:t>
            </a:r>
            <a:r>
              <a:rPr lang="en-US" sz="1300" b="1">
                <a:latin typeface="Catamaran"/>
                <a:ea typeface="Catamaran"/>
                <a:cs typeface="Catamaran"/>
                <a:sym typeface="Catamaran"/>
              </a:rPr>
              <a:t>constant platform velocity</a:t>
            </a:r>
            <a:r>
              <a:rPr lang="en-US" sz="1300">
                <a:latin typeface="Catamaran"/>
                <a:ea typeface="Catamaran"/>
                <a:cs typeface="Catamaran"/>
                <a:sym typeface="Catamaran"/>
              </a:rPr>
              <a:t>. </a:t>
            </a:r>
            <a:endParaRPr sz="1300">
              <a:latin typeface="Catamaran"/>
              <a:ea typeface="Catamaran"/>
              <a:cs typeface="Catamaran"/>
              <a:sym typeface="Catamaran"/>
            </a:endParaRPr>
          </a:p>
        </p:txBody>
      </p:sp>
      <p:sp>
        <p:nvSpPr>
          <p:cNvPr id="283" name="Google Shape;283;p29"/>
          <p:cNvSpPr txBox="1"/>
          <p:nvPr/>
        </p:nvSpPr>
        <p:spPr>
          <a:xfrm>
            <a:off x="4439425" y="2943888"/>
            <a:ext cx="44220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300">
                <a:latin typeface="Catamaran"/>
                <a:ea typeface="Catamaran"/>
                <a:cs typeface="Catamaran"/>
                <a:sym typeface="Catamaran"/>
              </a:rPr>
              <a:t>Control uses Euler angles which have </a:t>
            </a:r>
            <a:r>
              <a:rPr lang="en-US" sz="1300" b="1">
                <a:latin typeface="Catamaran"/>
                <a:ea typeface="Catamaran"/>
                <a:cs typeface="Catamaran"/>
                <a:sym typeface="Catamaran"/>
              </a:rPr>
              <a:t>singularities</a:t>
            </a:r>
            <a:r>
              <a:rPr lang="en-US" sz="1300">
                <a:latin typeface="Catamaran"/>
                <a:ea typeface="Catamaran"/>
                <a:cs typeface="Catamaran"/>
                <a:sym typeface="Catamaran"/>
              </a:rPr>
              <a:t>. This is not robust to aggressive maneuvers</a:t>
            </a:r>
            <a:endParaRPr sz="1300">
              <a:latin typeface="Catamaran"/>
              <a:ea typeface="Catamaran"/>
              <a:cs typeface="Catamaran"/>
              <a:sym typeface="Catamar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727650" y="8618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Conclusions </a:t>
            </a:r>
            <a:endParaRPr lang="en-US"/>
          </a:p>
        </p:txBody>
      </p:sp>
      <p:sp>
        <p:nvSpPr>
          <p:cNvPr id="289" name="Google Shape;289;p30"/>
          <p:cNvSpPr txBox="1"/>
          <p:nvPr>
            <p:ph type="body" idx="1"/>
          </p:nvPr>
        </p:nvSpPr>
        <p:spPr>
          <a:xfrm>
            <a:off x="727650" y="1772150"/>
            <a:ext cx="7688700" cy="98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0000"/>
                </a:solidFill>
              </a:rPr>
              <a:t>Our work has addressed implementing a </a:t>
            </a:r>
            <a:r>
              <a:rPr lang="en-US" b="1">
                <a:solidFill>
                  <a:srgbClr val="000000"/>
                </a:solidFill>
              </a:rPr>
              <a:t>simulation version</a:t>
            </a:r>
            <a:r>
              <a:rPr lang="en-US">
                <a:solidFill>
                  <a:srgbClr val="000000"/>
                </a:solidFill>
              </a:rPr>
              <a:t> of the reference work of </a:t>
            </a:r>
            <a:r>
              <a:rPr lang="en-US" i="1">
                <a:solidFill>
                  <a:srgbClr val="000000"/>
                </a:solidFill>
              </a:rPr>
              <a:t>Falanga et al.</a:t>
            </a:r>
            <a:r>
              <a:rPr lang="en-US">
                <a:solidFill>
                  <a:srgbClr val="000000"/>
                </a:solidFill>
              </a:rPr>
              <a:t> , achieving satisfying performance and </a:t>
            </a:r>
            <a:r>
              <a:rPr lang="en-US" b="1">
                <a:solidFill>
                  <a:srgbClr val="000000"/>
                </a:solidFill>
              </a:rPr>
              <a:t>completing the task of autonomous landing on a mobile platform</a:t>
            </a:r>
            <a:r>
              <a:rPr lang="en-US">
                <a:solidFill>
                  <a:srgbClr val="000000"/>
                </a:solidFill>
              </a:rPr>
              <a:t> obtaining comparable results without the aid of over-engineered methods.</a:t>
            </a:r>
            <a:br>
              <a:rPr lang="en-US">
                <a:solidFill>
                  <a:srgbClr val="000000"/>
                </a:solidFill>
              </a:rPr>
            </a:br>
            <a:endParaRPr>
              <a:solidFill>
                <a:srgbClr val="000000"/>
              </a:solidFill>
            </a:endParaRPr>
          </a:p>
        </p:txBody>
      </p:sp>
      <p:sp>
        <p:nvSpPr>
          <p:cNvPr id="290" name="Google Shape;290;p30"/>
          <p:cNvSpPr txBox="1"/>
          <p:nvPr>
            <p:ph type="subTitle" idx="2"/>
          </p:nvPr>
        </p:nvSpPr>
        <p:spPr>
          <a:xfrm>
            <a:off x="1401950" y="4779100"/>
            <a:ext cx="5854500" cy="3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1" name="Google Shape;291;p30"/>
          <p:cNvSpPr txBox="1"/>
          <p:nvPr>
            <p:ph type="body" idx="1"/>
          </p:nvPr>
        </p:nvSpPr>
        <p:spPr>
          <a:xfrm>
            <a:off x="727650" y="2992500"/>
            <a:ext cx="7688700" cy="66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00000"/>
                </a:solidFill>
              </a:rPr>
              <a:t>Future work</a:t>
            </a:r>
            <a:r>
              <a:rPr lang="en-US">
                <a:solidFill>
                  <a:srgbClr val="000000"/>
                </a:solidFill>
              </a:rPr>
              <a:t> would be to extend this foundation to real hardware testing and to address cited </a:t>
            </a:r>
            <a:r>
              <a:rPr lang="en-US">
                <a:solidFill>
                  <a:srgbClr val="000000"/>
                </a:solidFill>
              </a:rPr>
              <a:t>limitations</a:t>
            </a:r>
            <a:r>
              <a:rPr lang="en-US">
                <a:solidFill>
                  <a:srgbClr val="000000"/>
                </a:solidFill>
              </a:rPr>
              <a:t>, in order to enhance robustness and allow more aggressive maneuvers</a:t>
            </a:r>
            <a:endParaRPr>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95" name="Shape 295"/>
        <p:cNvGrpSpPr/>
        <p:nvPr/>
      </p:nvGrpSpPr>
      <p:grpSpPr>
        <a:xfrm>
          <a:off x="0" y="0"/>
          <a:ext cx="0" cy="0"/>
          <a:chOff x="0" y="0"/>
          <a:chExt cx="0" cy="0"/>
        </a:xfrm>
      </p:grpSpPr>
      <p:sp>
        <p:nvSpPr>
          <p:cNvPr id="296" name="Google Shape;296;p31"/>
          <p:cNvSpPr txBox="1"/>
          <p:nvPr>
            <p:ph type="ctrTitle"/>
          </p:nvPr>
        </p:nvSpPr>
        <p:spPr>
          <a:xfrm>
            <a:off x="729625" y="676413"/>
            <a:ext cx="7688100" cy="1664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200"/>
              <a:buNone/>
            </a:pPr>
            <a:r>
              <a:rPr lang="en-US"/>
              <a:t>Thank you for the attention!</a:t>
            </a:r>
            <a:endParaRPr lang="en-US"/>
          </a:p>
        </p:txBody>
      </p:sp>
      <p:sp>
        <p:nvSpPr>
          <p:cNvPr id="297" name="Google Shape;297;p3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panose="020B0604020202020204"/>
              <a:buNone/>
            </a:pPr>
            <a:fld id="{00000000-1234-1234-1234-123412341234}" type="slidenum">
              <a:rPr lang="en-US"/>
            </a:fld>
            <a:endParaRPr lang="en-US"/>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6812</Words>
  <Application>WPS Presentation</Application>
  <PresentationFormat/>
  <Paragraphs>241</Paragraphs>
  <Slides>26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Arial</vt:lpstr>
      <vt:lpstr>SimSun</vt:lpstr>
      <vt:lpstr>Wingdings</vt:lpstr>
      <vt:lpstr>Arial</vt:lpstr>
      <vt:lpstr>Catamaran</vt:lpstr>
      <vt:lpstr>Raleway</vt:lpstr>
      <vt:lpstr>Microsoft YaHei</vt:lpstr>
      <vt:lpstr>Arial Unicode MS</vt:lpstr>
      <vt:lpstr>Streamline</vt:lpstr>
      <vt:lpstr>Vision-Based Autonomous Quadrotor Landing on a Moving Platform</vt:lpstr>
      <vt:lpstr>Introduction</vt:lpstr>
      <vt:lpstr>Introduction</vt:lpstr>
      <vt:lpstr>Our Implementation</vt:lpstr>
      <vt:lpstr>State Machine Logic </vt:lpstr>
      <vt:lpstr>Control Scheme </vt:lpstr>
      <vt:lpstr>Dynamic Model </vt:lpstr>
      <vt:lpstr>Simulation and Control environments</vt:lpstr>
      <vt:lpstr>Software Integration Pipeline</vt:lpstr>
      <vt:lpstr>Platform Detection</vt:lpstr>
      <vt:lpstr>Detection Debug Examples</vt:lpstr>
      <vt:lpstr>Adaptive Field-Of-View</vt:lpstr>
      <vt:lpstr>3D Position Recovery (1/2), PnP</vt:lpstr>
      <vt:lpstr>3D Position Recovery (2/2), Coordinate Transform</vt:lpstr>
      <vt:lpstr>Kalman Filter for Platform prediction </vt:lpstr>
      <vt:lpstr>Experimental Validation</vt:lpstr>
      <vt:lpstr>Linear Platform Trajectory: Position tracking</vt:lpstr>
      <vt:lpstr>Linear Platform Trajectory: Video</vt:lpstr>
      <vt:lpstr>Circular Platform Trajectory: Position tracking</vt:lpstr>
      <vt:lpstr>Circular Platform Trajectory: Video</vt:lpstr>
      <vt:lpstr>Figure-8 Platform Trajectory: Position tracking</vt:lpstr>
      <vt:lpstr>Figure-8 Trajectory: Video</vt:lpstr>
      <vt:lpstr>Discussion (Implementation vs Reference)</vt:lpstr>
      <vt:lpstr>Discussion (Future work)</vt:lpstr>
      <vt:lpstr>Conclusions </vt:lpstr>
      <vt:lpstr>Thank you for the attention!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Vision-Based Autonomous Quadrotor Landing on a Moving Platform</dc:title>
  <dc:creator/>
  <cp:lastModifiedBy>Alessandro Carotenuto</cp:lastModifiedBy>
  <cp:revision>1</cp:revision>
  <dcterms:created xsi:type="dcterms:W3CDTF">2026-01-20T18:45:37Z</dcterms:created>
  <dcterms:modified xsi:type="dcterms:W3CDTF">2026-01-20T18:45:37Z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232BE60E53034A0CA0F2FE10CC2C60E6_12</vt:lpwstr>
  </property>
  <property fmtid="{D5CDD505-2E9C-101B-9397-08002B2CF9AE}" pid="3" name="KSOProductBuildVer">
    <vt:lpwstr>1033-12.2.0.22549</vt:lpwstr>
  </property>
</Properties>
</file>